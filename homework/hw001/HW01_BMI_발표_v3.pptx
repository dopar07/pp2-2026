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안녕하십니까, 3조 팀장 이찬민입니다. 저희 팀은 이찬민, 이우성, 신재중, 이서준 네 명이고, HW01 BMI 계산 결과표 과제를 실제 코드를 보면서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과제는 health.txt를 읽어 사람마다 BMI를 계산하고 Turtle로 표를 그리는 프로그램입니다. 계산은 bmi.py, 그리기는 bmi_table.py로 나눴고, 아래 코드처럼 bmi_table.py가 from bmi import read_health_file로 계산 함수를 가져다 씁니다. 그래서 계산 부분은 화면 없이 따로 테스트할 수 있습니다. 오른쪽이 함수 호출 흐름입니다. 역할도 이 함수 단위로 나눴고, 각자 작성한 코드는 GitHub로 합쳤습니다.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제가 작성한 main()입니다. ① read_health_file()로 파일을 읽어 사람별 리스트를 받고, ② 데이터가 0명이면 메시지만 출력하고 끝냅니다. ③ 창 높이는 사람 수에 헤더 한 줄을 더해서 계산하기 때문에 데이터가 늘어도 표가 잘리지 않습니다. ④ tracer(0)로 그리는 애니메이션을 끄고, ⑤ draw_table()로 표를 그린 뒤, ⑥ update()로 한 번에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draw_table()은 표 전체를 그립니다. ① 먼저 헤더 줄을 파란 배경, 흰 글씨로 그리고, ② for문에서 한 사람씩 꺼내 ③ 칸에 들어갈 글자 리스트를 만듭니다. BMI는 소수 첫째 자리까지 보이게 했습니다. ④ 짝수·홀수 줄마다 배경색을 바꿔 줄무늬를 만들고, ⑤ 헤더 아래로 i+1줄만큼 내려가 draw_row()로 한 줄을 그립니다. 다음은 BMI 계산을 맡은 이우성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[이우성] BMI 계산과 파일 읽기를 맡은 이우성입니다. calculate_bmi()는 ① 파일의 키가 cm라서 100으로 나눠 미터로 바꾸고, ② 몸무게를 키의 제곱으로 나눕니다. 175cm, 72kg이면 약 23.5입니다. ③ bmi_category()는 WHO 기준으로 18.5 미만 저체중, 25 미만 정상, 30 미만 과체중, 나머지는 비만입니다. ④ test_bmi()에서 assert로 계산값과 네 가지 소견을 확인했고, python bmi.py를 실행하면 'test_bmi 통과'가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[이우성] read_health_file()은 파일을 한 줄씩 읽습니다. ① 첫 줄은 제목이라 range(1, ...)로 1번 줄부터 시작하고, strip()과 split()으로 한 줄을 나눕니다. 잘못된 입력은 프로그램을 멈추지 않고 건너뜁니다. ② 빈 줄은 continue, ③ 항목이 4개가 아니면 형식 오류, ④ 키나 몸무게가 숫자가 아니면 ValueError를 잡아 숫자 오류 경고를 출력합니다. ⑤ 정상인 줄은 BMI와 소견을 붙여 6칸 리스트로 저장합니다. 또 파일을 UTF-8로 읽다 실패하면 CP949로 다시 읽습니다. 다음은 표 그리기를 맡은 신재중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[신재중] 표 그리기를 맡은 신재중입니다. 표를 칸 하나 → 한 줄 → 표 전체로 나눠 만들었습니다. draw_rect()는 칸 하나를 그립니다. 왼쪽 위로 이동한 뒤 ② setheading(0)으로 오른쪽을 보게 하고, ③ begin_fill과 end_fill 사이에서 ④ 전진·우회전을 두 번 반복해 색칠된 사각형을 만듭니다. write_text()는 ⑤ align center가 가로만 맞춰 주기 때문에 y를 10 내려 세로도 가운데로 보이게 했습니다. ① 글꼴 크기는 -16처럼 음수로 써서 픽셀 단위로 고정했고, 윈도우 배율이 달라도 글자가 칸을 넘치지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[신재중] draw_row()는 칸을 옆으로 이어 한 줄을 만듭니다. ① 칸마다 너비가 달라서 COL_WIDTHS 리스트에서 꺼내고, ② draw_rect()로 칸을 그린 뒤 가운데에 글자를 씁니다. ③ 6번째 소견 칸만 category_color()로 글자 색을 바꿉니다. ④ 그리고 x를 칸 너비만큼 오른쪽으로 옮깁니다. 아래 그림처럼 -340에서 시작해 170, 100을 더해 가는 방식입니다. 이 함수를 헤더 한 번, 사람 수만큼 부르면 표가 완성됩니다. 다음은 이서준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[이서준] 소견 색 함수와 보고서를 맡은 이서준입니다. category_color()는 if/elif로 소견을 비교해 ① 저체중은 파랑, 정상은 초록, 과체중은 주황을 돌려줍니다. ② 마지막은 else로 써서 그 외 비만은 빨강이고, 어떤 값이 들어와도 항상 색 하나를 돌려주므로 None 때문에 오류가 나지 않습니다. 오른쪽이 실행 결과입니다. 7명 중 신재중 학생이 17.1로 저체중, 이서준이 27.2로 과체중, 윤종하가 34.6으로 비만, 나머지 4명은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[이서준] README는 팀 소개, 문제, 설계, 파일 설명, 실행 방법, 결과, 역할, 소감 순서로 정리했습니다. 이번 과제로 큰 문제를 작은 함수로 나누고, 각자 맡은 함수를 합쳐 하나의 프로그램을 만드는 과정을 배웠습니다. 이상으로 3조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이어서 실제로 실행해 보겠습니다. 먼저 python bmi.py로 테스트를 실행하면 'test_bmi 통과'가 나옵니다. 다음 python bmi_table.py를 실행하면 Turtle 창이 열리고 7명의 BMI 결과표가 한 번에 그려집니다. 창을 닫으면 종료됩니다.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프로그래밍 HW01 · 3조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BMI 계산 결과표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health.txt → BMI 계산 → Turtle GUI 표 출력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이찬민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팀장 · main() · draw_table()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BMI 계산 · 파일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신재중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draw_rect() · draw_row()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이서준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category_color() ·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문제와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과제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health.txt의 전화번호·이름·키·몸무게를 읽어 BMI를 계산하고 Turtle로 표를 그린다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49377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계산 담당 — 화면 없이 테스트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49377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bmi_table.py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그리기 담당 — 계산 함수를 import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4937760" cy="13258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493776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13248"/>
            <a:ext cx="434340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 5 </a:t>
            </a:r>
            <a:r>
              <a:rPr sz="1500">
                <a:solidFill>
                  <a:srgbClr val="C586C0"/>
                </a:solidFill>
                <a:latin typeface="Consolas"/>
              </a:rPr>
              <a:t>import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turtle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645658"/>
            <a:ext cx="434340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 6 </a:t>
            </a:r>
            <a:r>
              <a:rPr sz="1500">
                <a:solidFill>
                  <a:srgbClr val="C586C0"/>
                </a:solidFill>
                <a:latin typeface="Consolas"/>
              </a:rPr>
              <a:t>from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bmi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586C0"/>
                </a:solidFill>
                <a:latin typeface="Consolas"/>
              </a:rPr>
              <a:t>import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read_health_file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함수 호출 흐름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main()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82880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8EEF2"/>
                </a:solidFill>
                <a:latin typeface="맑은 고딕"/>
              </a:rPr>
              <a:t>프로그램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69748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read_health_file()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69748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파일 → 리스트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56616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56616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5661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표 전체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443484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443484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한 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30352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30352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draw_rect()  write_text()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59" y="53035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칸 하나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역할은 함수 단위로 나누고 GitHub로 합침 (add → commit → pull → push)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main() — 프로그램의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048509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25650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249932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227072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458463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435604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4465574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4442714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5271262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248401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3" y="5674105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5651245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84708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112 </a:t>
            </a:r>
            <a:r>
              <a:rPr sz="1300">
                <a:solidFill>
                  <a:srgbClr val="C586C0"/>
                </a:solidFill>
                <a:latin typeface="Consolas"/>
              </a:rPr>
              <a:t>def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CDCAA"/>
                </a:solidFill>
                <a:latin typeface="Consolas"/>
              </a:rPr>
              <a:t>main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048509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113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records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read_health_file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health.txt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24993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114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C586C0"/>
                </a:solidFill>
                <a:latin typeface="Consolas"/>
              </a:rPr>
              <a:t>if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4EC9B0"/>
                </a:solidFill>
                <a:latin typeface="Consolas"/>
              </a:rPr>
              <a:t>len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records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451354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115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4EC9B0"/>
                </a:solidFill>
                <a:latin typeface="Consolas"/>
              </a:rPr>
              <a:t>print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health.txt에 표시할 데이터가 없습니다.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652776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116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C586C0"/>
                </a:solidFill>
                <a:latin typeface="Consolas"/>
              </a:rPr>
              <a:t>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85419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117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5562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118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# 데이터 줄 수에 맞춰 창 크기를 정한다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25704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119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width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4EC9B0"/>
                </a:solidFill>
                <a:latin typeface="Consolas"/>
              </a:rPr>
              <a:t>sum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COL_WIDTHS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MARGIN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58463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120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height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ROW_HEIGHT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4EC9B0"/>
                </a:solidFill>
                <a:latin typeface="Consolas"/>
              </a:rPr>
              <a:t>len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records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TITLE_SPACE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MARGIN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659885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121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61307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122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turtle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06273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123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title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BMI 계산 결과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26415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124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setup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width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20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height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65574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125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tracer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# 그리는 과정을 생략하고 한 번에 보여준다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666996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126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86841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127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turtle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Turtle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6984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128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hideturtle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7126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129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draw_table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records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72683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130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674105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131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screen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update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875527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132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turtle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done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1" name="Oval 40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파일 읽기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175564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사람별 리스트 records를 받음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22357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22174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데이터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260146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0명이면 빈 창 없이 종료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3081527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3063239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창 크기 계산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3447287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사람 수 + 1(헤더)만큼 높이 → 표가 잘리지 않음</a:t>
            </a:r>
          </a:p>
        </p:txBody>
      </p:sp>
      <p:sp>
        <p:nvSpPr>
          <p:cNvPr id="50" name="Oval 49"/>
          <p:cNvSpPr/>
          <p:nvPr/>
        </p:nvSpPr>
        <p:spPr>
          <a:xfrm>
            <a:off x="9281160" y="39273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39090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애니메이션 끄기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429310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한 줄씩 그리는 과정 생략</a:t>
            </a:r>
          </a:p>
        </p:txBody>
      </p:sp>
      <p:sp>
        <p:nvSpPr>
          <p:cNvPr id="53" name="Oval 52"/>
          <p:cNvSpPr/>
          <p:nvPr/>
        </p:nvSpPr>
        <p:spPr>
          <a:xfrm>
            <a:off x="9281160" y="4773167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6648" y="4754879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표 그리기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8" y="5138927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draw_table()에 records 전달</a:t>
            </a:r>
          </a:p>
        </p:txBody>
      </p:sp>
      <p:sp>
        <p:nvSpPr>
          <p:cNvPr id="56" name="Oval 55"/>
          <p:cNvSpPr/>
          <p:nvPr/>
        </p:nvSpPr>
        <p:spPr>
          <a:xfrm>
            <a:off x="9281160" y="56189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648" y="56007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한 번에 표시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6648" y="598474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다 그린 뒤 화면 갱신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draw_table() — 표 전체 그리기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358390"/>
            <a:ext cx="8394192" cy="170434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335530"/>
            <a:ext cx="216153" cy="216153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3040126"/>
            <a:ext cx="8394192" cy="170434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3017266"/>
            <a:ext cx="216153" cy="216153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210560"/>
            <a:ext cx="8394192" cy="170434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187700"/>
            <a:ext cx="216153" cy="216153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3551428"/>
            <a:ext cx="8394192" cy="170434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3528568"/>
            <a:ext cx="216153" cy="216153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4403598"/>
            <a:ext cx="8394192" cy="170434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4380738"/>
            <a:ext cx="216153" cy="216153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847088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81 </a:t>
            </a:r>
            <a:r>
              <a:rPr sz="1100">
                <a:solidFill>
                  <a:srgbClr val="C586C0"/>
                </a:solidFill>
                <a:latin typeface="Consolas"/>
              </a:rPr>
              <a:t>def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CDCAA"/>
                </a:solidFill>
                <a:latin typeface="Consolas"/>
              </a:rPr>
              <a:t>draw_table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records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017521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187956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90 </a:t>
            </a:r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6A9955"/>
                </a:solidFill>
                <a:latin typeface="Consolas"/>
              </a:rPr>
              <a:t># 제목 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358390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91 </a:t>
            </a:r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9CDCFE"/>
                </a:solidFill>
                <a:latin typeface="Consolas"/>
              </a:rPr>
              <a:t>draw_row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left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top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HEADERS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steelblue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white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28824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92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99258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93 </a:t>
            </a:r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6A9955"/>
                </a:solidFill>
                <a:latin typeface="Consolas"/>
              </a:rPr>
              <a:t># 데이터 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69692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94 </a:t>
            </a:r>
            <a:r>
              <a:rPr sz="1100">
                <a:solidFill>
                  <a:srgbClr val="D4D4D4"/>
                </a:solidFill>
                <a:latin typeface="Consolas"/>
              </a:rPr>
              <a:t>    </a:t>
            </a:r>
            <a:r>
              <a:rPr sz="1100">
                <a:solidFill>
                  <a:srgbClr val="C586C0"/>
                </a:solidFill>
                <a:latin typeface="Consolas"/>
              </a:rPr>
              <a:t>for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i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586C0"/>
                </a:solidFill>
                <a:latin typeface="Consolas"/>
              </a:rPr>
              <a:t>in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4EC9B0"/>
                </a:solidFill>
                <a:latin typeface="Consolas"/>
              </a:rPr>
              <a:t>range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4EC9B0"/>
                </a:solidFill>
                <a:latin typeface="Consolas"/>
              </a:rPr>
              <a:t>len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records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040126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95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9CDCFE"/>
                </a:solidFill>
                <a:latin typeface="Consolas"/>
              </a:rPr>
              <a:t>phone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name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height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weight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bmi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records</a:t>
            </a:r>
            <a:r>
              <a:rPr sz="1100">
                <a:solidFill>
                  <a:srgbClr val="D4D4D4"/>
                </a:solidFill>
                <a:latin typeface="Consolas"/>
              </a:rPr>
              <a:t>[</a:t>
            </a:r>
            <a:r>
              <a:rPr sz="1100">
                <a:solidFill>
                  <a:srgbClr val="9CDCFE"/>
                </a:solidFill>
                <a:latin typeface="Consolas"/>
              </a:rPr>
              <a:t>i</a:t>
            </a:r>
            <a:r>
              <a:rPr sz="110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10560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96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9CDCFE"/>
                </a:solidFill>
                <a:latin typeface="Consolas"/>
              </a:rPr>
              <a:t>cells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[</a:t>
            </a:r>
            <a:r>
              <a:rPr sz="1100">
                <a:solidFill>
                  <a:srgbClr val="9CDCFE"/>
                </a:solidFill>
                <a:latin typeface="Consolas"/>
              </a:rPr>
              <a:t>phone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name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fmt_number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height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fmt_number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weight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f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{</a:t>
            </a:r>
            <a:r>
              <a:rPr sz="1100">
                <a:solidFill>
                  <a:srgbClr val="9CDCFE"/>
                </a:solidFill>
                <a:latin typeface="Consolas"/>
              </a:rPr>
              <a:t>bmi</a:t>
            </a:r>
            <a:r>
              <a:rPr sz="1100">
                <a:solidFill>
                  <a:srgbClr val="CE9178"/>
                </a:solidFill>
                <a:latin typeface="Consolas"/>
              </a:rPr>
              <a:t>:</a:t>
            </a:r>
            <a:r>
              <a:rPr sz="1100">
                <a:solidFill>
                  <a:srgbClr val="CE9178"/>
                </a:solidFill>
                <a:latin typeface="Consolas"/>
              </a:rPr>
              <a:t>.1f</a:t>
            </a:r>
            <a:r>
              <a:rPr sz="1100">
                <a:solidFill>
                  <a:srgbClr val="CE9178"/>
                </a:solidFill>
                <a:latin typeface="Consolas"/>
              </a:rPr>
              <a:t>}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380994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97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551428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98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C586C0"/>
                </a:solidFill>
                <a:latin typeface="Consolas"/>
              </a:rPr>
              <a:t>if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i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%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B5CEA8"/>
                </a:solidFill>
                <a:latin typeface="Consolas"/>
              </a:rPr>
              <a:t>2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B5CEA8"/>
                </a:solidFill>
                <a:latin typeface="Consolas"/>
              </a:rPr>
              <a:t>0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100">
                <a:solidFill>
                  <a:srgbClr val="6A9955"/>
                </a:solidFill>
                <a:latin typeface="Consolas"/>
              </a:rPr>
              <a:t># 줄무늬 배경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721861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 99 </a:t>
            </a:r>
            <a:r>
              <a:rPr sz="11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00">
                <a:solidFill>
                  <a:srgbClr val="9CDCFE"/>
                </a:solidFill>
                <a:latin typeface="Consolas"/>
              </a:rPr>
              <a:t>bg_color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white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92295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100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C586C0"/>
                </a:solidFill>
                <a:latin typeface="Consolas"/>
              </a:rPr>
              <a:t>else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062730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101 </a:t>
            </a:r>
            <a:r>
              <a:rPr sz="11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00">
                <a:solidFill>
                  <a:srgbClr val="9CDCFE"/>
                </a:solidFill>
                <a:latin typeface="Consolas"/>
              </a:rPr>
              <a:t>bg_color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aliceblue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233164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102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03598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103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9CDCFE"/>
                </a:solidFill>
                <a:latin typeface="Consolas"/>
              </a:rPr>
              <a:t>row_top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top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-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ROW_HEIGHT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*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i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+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B5CEA8"/>
                </a:solidFill>
                <a:latin typeface="Consolas"/>
              </a:rPr>
              <a:t>1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574032"/>
            <a:ext cx="7909560" cy="1704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00">
                <a:solidFill>
                  <a:srgbClr val="6E7681"/>
                </a:solidFill>
                <a:latin typeface="Consolas"/>
              </a:rPr>
              <a:t>104 </a:t>
            </a:r>
            <a:r>
              <a:rPr sz="110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>
                <a:solidFill>
                  <a:srgbClr val="9CDCFE"/>
                </a:solidFill>
                <a:latin typeface="Consolas"/>
              </a:rPr>
              <a:t>draw_row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left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row_top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cells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bg_color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CE9178"/>
                </a:solidFill>
                <a:latin typeface="Consolas"/>
              </a:rPr>
              <a:t>black</a:t>
            </a:r>
            <a:r>
              <a:rPr sz="1100">
                <a:solidFill>
                  <a:srgbClr val="CE9178"/>
                </a:solidFill>
                <a:latin typeface="Consolas"/>
              </a:rPr>
              <a:t>"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5" name="Oval 34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헤더 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steelblue 배경 + 흰 글씨로 제목 줄</a:t>
            </a:r>
          </a:p>
        </p:txBody>
      </p:sp>
      <p:sp>
        <p:nvSpPr>
          <p:cNvPr id="38" name="Oval 37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한 사람씩 꺼내기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6칸 리스트를 변수 6개로 나눔</a:t>
            </a:r>
          </a:p>
        </p:txBody>
      </p:sp>
      <p:sp>
        <p:nvSpPr>
          <p:cNvPr id="41" name="Oval 40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칸 글자 만들기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BMI는 소수 첫째 자리까지 글자로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42702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42519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줄무늬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463600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짝수 줄 white, 홀수 줄 aliceblue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523036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521208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줄 위치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559612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i+1줄만큼 아래로 → draw_row() 호출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BMI 계산과 소견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234438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211578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428113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405253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202813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179953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5139563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5116702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470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4 </a:t>
            </a:r>
            <a:r>
              <a:rPr sz="1250">
                <a:solidFill>
                  <a:srgbClr val="C586C0"/>
                </a:solidFill>
                <a:latin typeface="Consolas"/>
              </a:rPr>
              <a:t>def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</a:rPr>
              <a:t>calculate_bmi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weight</a:t>
            </a:r>
            <a:r>
              <a:rPr sz="1250">
                <a:solidFill>
                  <a:srgbClr val="D4D4D4"/>
                </a:solidFill>
                <a:latin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height_cm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040762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5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"""몸무게(kg)와 키(cm)로 BMI를 계산한다."""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2344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6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height_m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height_cm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/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100</a:t>
            </a:r>
            <a:r>
              <a:rPr sz="1250">
                <a:solidFill>
                  <a:srgbClr val="D4D4D4"/>
                </a:solidFill>
                <a:latin typeface="Consolas"/>
              </a:rPr>
              <a:t>          </a:t>
            </a:r>
            <a:r>
              <a:rPr sz="1250">
                <a:solidFill>
                  <a:srgbClr val="6A9955"/>
                </a:solidFill>
                <a:latin typeface="Consolas"/>
              </a:rPr>
              <a:t># cm -&gt;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4281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7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weight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/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height_m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*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height_m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6217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154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10 </a:t>
            </a:r>
            <a:r>
              <a:rPr sz="1250">
                <a:solidFill>
                  <a:srgbClr val="C586C0"/>
                </a:solidFill>
                <a:latin typeface="Consolas"/>
              </a:rPr>
              <a:t>def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</a:rPr>
              <a:t>bmi_category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bmi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0091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11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"""BMI 값에 따른 소견을 반환한다. (WHO 기준)"""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2028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12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if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&lt;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18.5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3964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13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저체중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901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14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elif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&lt;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25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83837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15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정상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775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16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elif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&lt;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30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1711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17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과체중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3648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18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else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585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19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비만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7522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458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65 </a:t>
            </a:r>
            <a:r>
              <a:rPr sz="1250">
                <a:solidFill>
                  <a:srgbClr val="C586C0"/>
                </a:solidFill>
                <a:latin typeface="Consolas"/>
              </a:rPr>
              <a:t>def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</a:rPr>
              <a:t>test_bmi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1395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66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assert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4EC9B0"/>
                </a:solidFill>
                <a:latin typeface="Consolas"/>
              </a:rPr>
              <a:t>round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calculate_bmi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72</a:t>
            </a:r>
            <a:r>
              <a:rPr sz="1250">
                <a:solidFill>
                  <a:srgbClr val="D4D4D4"/>
                </a:solidFill>
                <a:latin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175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1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23.5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32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67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assert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bmi_category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17.0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저체중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526912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68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assert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bmi_category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23.5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정상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720587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69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assert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bmi_category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26.0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과체중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9142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70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assert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bmi_category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31.0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비만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1079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71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4EC9B0"/>
                </a:solidFill>
                <a:latin typeface="Consolas"/>
              </a:rPr>
              <a:t>print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test_bmi 통과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9" name="Oval 38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cm → m 변환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파일의 키는 cm라서 100으로 나눔</a:t>
            </a:r>
          </a:p>
        </p:txBody>
      </p:sp>
      <p:sp>
        <p:nvSpPr>
          <p:cNvPr id="42" name="Oval 41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BMI 공식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몸무게 ÷ 키(m)²   72 ÷ 1.75² ≈ 23.5</a:t>
            </a:r>
          </a:p>
        </p:txBody>
      </p:sp>
      <p:sp>
        <p:nvSpPr>
          <p:cNvPr id="45" name="Oval 44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WHO 기준 판정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if/elif가 위에서부터 차례로 검사</a:t>
            </a:r>
          </a:p>
        </p:txBody>
      </p:sp>
      <p:sp>
        <p:nvSpPr>
          <p:cNvPr id="48" name="Oval 47"/>
          <p:cNvSpPr/>
          <p:nvPr/>
        </p:nvSpPr>
        <p:spPr>
          <a:xfrm>
            <a:off x="9281160" y="42702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42519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assert 테스트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463600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계산값과 4가지 소견 확인 → python bmi.py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81160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18.5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84664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84664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84664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25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88168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8168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8168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30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91672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91672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91672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≥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read_health_file() — 파일 한 줄씩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025268"/>
            <a:ext cx="8394192" cy="178181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02409"/>
            <a:ext cx="223900" cy="2239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381631"/>
            <a:ext cx="8394192" cy="178181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358771"/>
            <a:ext cx="223900" cy="2239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094355"/>
            <a:ext cx="8394192" cy="178181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071495"/>
            <a:ext cx="223900" cy="2239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4697984"/>
            <a:ext cx="8394192" cy="178181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4675124"/>
            <a:ext cx="223900" cy="2239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5767069"/>
            <a:ext cx="8394192" cy="178181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744209"/>
            <a:ext cx="223900" cy="2239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84708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38 </a:t>
            </a: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9CDCFE"/>
                </a:solidFill>
                <a:latin typeface="Consolas"/>
              </a:rPr>
              <a:t>records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02526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39 </a:t>
            </a: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C586C0"/>
                </a:solidFill>
                <a:latin typeface="Consolas"/>
              </a:rPr>
              <a:t>for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i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C586C0"/>
                </a:solidFill>
                <a:latin typeface="Consolas"/>
              </a:rPr>
              <a:t>in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range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len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lines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  <a:r>
              <a:rPr sz="1150">
                <a:solidFill>
                  <a:srgbClr val="D4D4D4"/>
                </a:solidFill>
                <a:latin typeface="Consolas"/>
              </a:rPr>
              <a:t>      </a:t>
            </a:r>
            <a:r>
              <a:rPr sz="1150">
                <a:solidFill>
                  <a:srgbClr val="6A9955"/>
                </a:solidFill>
                <a:latin typeface="Consolas"/>
              </a:rPr>
              <a:t># 첫 줄은 제목이므로 건너뛴다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203450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40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line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lines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9CDCFE"/>
                </a:solidFill>
                <a:latin typeface="Consolas"/>
              </a:rPr>
              <a:t>i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  <a:r>
              <a:rPr sz="1150">
                <a:solidFill>
                  <a:srgbClr val="D4D4D4"/>
                </a:solidFill>
                <a:latin typeface="Consolas"/>
              </a:rPr>
              <a:t>.</a:t>
            </a:r>
            <a:r>
              <a:rPr sz="1150">
                <a:solidFill>
                  <a:srgbClr val="9CDCFE"/>
                </a:solidFill>
                <a:latin typeface="Consolas"/>
              </a:rPr>
              <a:t>strip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381631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41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C586C0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line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150">
                <a:solidFill>
                  <a:srgbClr val="6A9955"/>
                </a:solidFill>
                <a:latin typeface="Consolas"/>
              </a:rPr>
              <a:t># 빈 줄은 건너뛴다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59811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42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C586C0"/>
                </a:solidFill>
                <a:latin typeface="Consolas"/>
              </a:rPr>
              <a:t>continue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37993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43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16174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44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line</a:t>
            </a:r>
            <a:r>
              <a:rPr sz="1150">
                <a:solidFill>
                  <a:srgbClr val="D4D4D4"/>
                </a:solidFill>
                <a:latin typeface="Consolas"/>
              </a:rPr>
              <a:t>.</a:t>
            </a:r>
            <a:r>
              <a:rPr sz="1150">
                <a:solidFill>
                  <a:srgbClr val="9CDCFE"/>
                </a:solidFill>
                <a:latin typeface="Consolas"/>
              </a:rPr>
              <a:t>split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094355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45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C586C0"/>
                </a:solidFill>
                <a:latin typeface="Consolas"/>
              </a:rPr>
              <a:t>if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len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!=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B5CEA8"/>
                </a:solidFill>
                <a:latin typeface="Consolas"/>
              </a:rPr>
              <a:t>4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72536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46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4EC9B0"/>
                </a:solidFill>
                <a:latin typeface="Consolas"/>
              </a:rPr>
              <a:t>print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CE9178"/>
                </a:solidFill>
                <a:latin typeface="Consolas"/>
              </a:rPr>
              <a:t>f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CE9178"/>
                </a:solidFill>
                <a:latin typeface="Consolas"/>
              </a:rPr>
              <a:t>[경고] </a:t>
            </a:r>
            <a:r>
              <a:rPr sz="1150">
                <a:solidFill>
                  <a:srgbClr val="CE9178"/>
                </a:solidFill>
                <a:latin typeface="Consolas"/>
              </a:rPr>
              <a:t>{</a:t>
            </a:r>
            <a:r>
              <a:rPr sz="1150">
                <a:solidFill>
                  <a:srgbClr val="9CDCFE"/>
                </a:solidFill>
                <a:latin typeface="Consolas"/>
              </a:rPr>
              <a:t>i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+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CE9178"/>
                </a:solidFill>
                <a:latin typeface="Consolas"/>
              </a:rPr>
              <a:t>}</a:t>
            </a:r>
            <a:r>
              <a:rPr sz="1150">
                <a:solidFill>
                  <a:srgbClr val="CE9178"/>
                </a:solidFill>
                <a:latin typeface="Consolas"/>
              </a:rPr>
              <a:t>번째 줄 형식 오류로 건너뜀: </a:t>
            </a:r>
            <a:r>
              <a:rPr sz="1150">
                <a:solidFill>
                  <a:srgbClr val="CE9178"/>
                </a:solidFill>
                <a:latin typeface="Consolas"/>
              </a:rPr>
              <a:t>{</a:t>
            </a:r>
            <a:r>
              <a:rPr sz="1150">
                <a:solidFill>
                  <a:srgbClr val="9CDCFE"/>
                </a:solidFill>
                <a:latin typeface="Consolas"/>
              </a:rPr>
              <a:t>line</a:t>
            </a:r>
            <a:r>
              <a:rPr sz="1150">
                <a:solidFill>
                  <a:srgbClr val="CE9178"/>
                </a:solidFill>
                <a:latin typeface="Consolas"/>
              </a:rPr>
              <a:t>}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450716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47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C586C0"/>
                </a:solidFill>
                <a:latin typeface="Consolas"/>
              </a:rPr>
              <a:t>continue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2889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48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80707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49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phone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B5CEA8"/>
                </a:solidFill>
                <a:latin typeface="Consolas"/>
              </a:rPr>
              <a:t>0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985259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50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name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163441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51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C586C0"/>
                </a:solidFill>
                <a:latin typeface="Consolas"/>
              </a:rPr>
              <a:t>try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41622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52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9CDCFE"/>
                </a:solidFill>
                <a:latin typeface="Consolas"/>
              </a:rPr>
              <a:t>height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float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B5CEA8"/>
                </a:solidFill>
                <a:latin typeface="Consolas"/>
              </a:rPr>
              <a:t>2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519803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53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9CDCFE"/>
                </a:solidFill>
                <a:latin typeface="Consolas"/>
              </a:rPr>
              <a:t>weight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float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parts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B5CEA8"/>
                </a:solidFill>
                <a:latin typeface="Consolas"/>
              </a:rPr>
              <a:t>3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697984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54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C586C0"/>
                </a:solidFill>
                <a:latin typeface="Consolas"/>
              </a:rPr>
              <a:t>except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4EC9B0"/>
                </a:solidFill>
                <a:latin typeface="Consolas"/>
              </a:rPr>
              <a:t>ValueError</a:t>
            </a:r>
            <a:r>
              <a:rPr sz="11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876165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55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4EC9B0"/>
                </a:solidFill>
                <a:latin typeface="Consolas"/>
              </a:rPr>
              <a:t>print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CE9178"/>
                </a:solidFill>
                <a:latin typeface="Consolas"/>
              </a:rPr>
              <a:t>f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CE9178"/>
                </a:solidFill>
                <a:latin typeface="Consolas"/>
              </a:rPr>
              <a:t>[경고] </a:t>
            </a:r>
            <a:r>
              <a:rPr sz="1150">
                <a:solidFill>
                  <a:srgbClr val="CE9178"/>
                </a:solidFill>
                <a:latin typeface="Consolas"/>
              </a:rPr>
              <a:t>{</a:t>
            </a:r>
            <a:r>
              <a:rPr sz="1150">
                <a:solidFill>
                  <a:srgbClr val="9CDCFE"/>
                </a:solidFill>
                <a:latin typeface="Consolas"/>
              </a:rPr>
              <a:t>i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+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B5CEA8"/>
                </a:solidFill>
                <a:latin typeface="Consolas"/>
              </a:rPr>
              <a:t>1</a:t>
            </a:r>
            <a:r>
              <a:rPr sz="1150">
                <a:solidFill>
                  <a:srgbClr val="CE9178"/>
                </a:solidFill>
                <a:latin typeface="Consolas"/>
              </a:rPr>
              <a:t>}</a:t>
            </a:r>
            <a:r>
              <a:rPr sz="1150">
                <a:solidFill>
                  <a:srgbClr val="CE9178"/>
                </a:solidFill>
                <a:latin typeface="Consolas"/>
              </a:rPr>
              <a:t>번째 줄 숫자 오류로 건너뜀: </a:t>
            </a:r>
            <a:r>
              <a:rPr sz="1150">
                <a:solidFill>
                  <a:srgbClr val="CE9178"/>
                </a:solidFill>
                <a:latin typeface="Consolas"/>
              </a:rPr>
              <a:t>{</a:t>
            </a:r>
            <a:r>
              <a:rPr sz="1150">
                <a:solidFill>
                  <a:srgbClr val="9CDCFE"/>
                </a:solidFill>
                <a:latin typeface="Consolas"/>
              </a:rPr>
              <a:t>line</a:t>
            </a:r>
            <a:r>
              <a:rPr sz="1150">
                <a:solidFill>
                  <a:srgbClr val="CE9178"/>
                </a:solidFill>
                <a:latin typeface="Consolas"/>
              </a:rPr>
              <a:t>}</a:t>
            </a:r>
            <a:r>
              <a:rPr sz="1150">
                <a:solidFill>
                  <a:srgbClr val="CE9178"/>
                </a:solidFill>
                <a:latin typeface="Consolas"/>
              </a:rPr>
              <a:t>"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54346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56 </a:t>
            </a:r>
            <a:r>
              <a:rPr sz="115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50">
                <a:solidFill>
                  <a:srgbClr val="C586C0"/>
                </a:solidFill>
                <a:latin typeface="Consolas"/>
              </a:rPr>
              <a:t>continue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32527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57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1070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58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bmi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calculate_bmi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weight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height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588888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59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category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D4D4D4"/>
                </a:solidFill>
                <a:latin typeface="Consolas"/>
              </a:rPr>
              <a:t>=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bmi_category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9CDCFE"/>
                </a:solidFill>
                <a:latin typeface="Consolas"/>
              </a:rPr>
              <a:t>bmi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767069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60 </a:t>
            </a:r>
            <a:r>
              <a:rPr sz="1150">
                <a:solidFill>
                  <a:srgbClr val="D4D4D4"/>
                </a:solidFill>
                <a:latin typeface="Consolas"/>
              </a:rPr>
              <a:t>        </a:t>
            </a:r>
            <a:r>
              <a:rPr sz="1150">
                <a:solidFill>
                  <a:srgbClr val="9CDCFE"/>
                </a:solidFill>
                <a:latin typeface="Consolas"/>
              </a:rPr>
              <a:t>records</a:t>
            </a:r>
            <a:r>
              <a:rPr sz="1150">
                <a:solidFill>
                  <a:srgbClr val="D4D4D4"/>
                </a:solidFill>
                <a:latin typeface="Consolas"/>
              </a:rPr>
              <a:t>.</a:t>
            </a:r>
            <a:r>
              <a:rPr sz="1150">
                <a:solidFill>
                  <a:srgbClr val="9CDCFE"/>
                </a:solidFill>
                <a:latin typeface="Consolas"/>
              </a:rPr>
              <a:t>append</a:t>
            </a:r>
            <a:r>
              <a:rPr sz="1150">
                <a:solidFill>
                  <a:srgbClr val="D4D4D4"/>
                </a:solidFill>
                <a:latin typeface="Consolas"/>
              </a:rPr>
              <a:t>(</a:t>
            </a:r>
            <a:r>
              <a:rPr sz="1150">
                <a:solidFill>
                  <a:srgbClr val="D4D4D4"/>
                </a:solidFill>
                <a:latin typeface="Consolas"/>
              </a:rPr>
              <a:t>[</a:t>
            </a:r>
            <a:r>
              <a:rPr sz="1150">
                <a:solidFill>
                  <a:srgbClr val="9CDCFE"/>
                </a:solidFill>
                <a:latin typeface="Consolas"/>
              </a:rPr>
              <a:t>phone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name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height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weight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bmi</a:t>
            </a:r>
            <a:r>
              <a:rPr sz="1150">
                <a:solidFill>
                  <a:srgbClr val="D4D4D4"/>
                </a:solidFill>
                <a:latin typeface="Consolas"/>
              </a:rPr>
              <a:t>,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category</a:t>
            </a:r>
            <a:r>
              <a:rPr sz="1150">
                <a:solidFill>
                  <a:srgbClr val="D4D4D4"/>
                </a:solidFill>
                <a:latin typeface="Consolas"/>
              </a:rPr>
              <a:t>]</a:t>
            </a:r>
            <a:r>
              <a:rPr sz="11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945250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61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6123431"/>
            <a:ext cx="7909560" cy="1781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150">
                <a:solidFill>
                  <a:srgbClr val="6E7681"/>
                </a:solidFill>
                <a:latin typeface="Consolas"/>
              </a:rPr>
              <a:t> 62 </a:t>
            </a:r>
            <a:r>
              <a:rPr sz="1150">
                <a:solidFill>
                  <a:srgbClr val="D4D4D4"/>
                </a:solidFill>
                <a:latin typeface="Consolas"/>
              </a:rPr>
              <a:t>    </a:t>
            </a:r>
            <a:r>
              <a:rPr sz="1150">
                <a:solidFill>
                  <a:srgbClr val="C586C0"/>
                </a:solidFill>
                <a:latin typeface="Consolas"/>
              </a:rPr>
              <a:t>return</a:t>
            </a:r>
            <a:r>
              <a:rPr sz="1150">
                <a:solidFill>
                  <a:srgbClr val="D4D4D4"/>
                </a:solidFill>
                <a:latin typeface="Consolas"/>
              </a:rPr>
              <a:t> </a:t>
            </a:r>
            <a:r>
              <a:rPr sz="1150">
                <a:solidFill>
                  <a:srgbClr val="9CDCFE"/>
                </a:solidFill>
                <a:latin typeface="Consolas"/>
              </a:rPr>
              <a:t>records</a:t>
            </a:r>
          </a:p>
        </p:txBody>
      </p:sp>
      <p:sp>
        <p:nvSpPr>
          <p:cNvPr id="43" name="Oval 42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제목 줄 건너뛰기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1755648"/>
            <a:ext cx="1883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range(1, …)로 1번 줄부터</a:t>
            </a:r>
          </a:p>
        </p:txBody>
      </p:sp>
      <p:sp>
        <p:nvSpPr>
          <p:cNvPr id="46" name="Oval 45"/>
          <p:cNvSpPr/>
          <p:nvPr/>
        </p:nvSpPr>
        <p:spPr>
          <a:xfrm>
            <a:off x="9281160" y="2276856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2258568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빈 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2642615"/>
            <a:ext cx="1883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continue로 조용히 건너뜀</a:t>
            </a:r>
          </a:p>
        </p:txBody>
      </p:sp>
      <p:sp>
        <p:nvSpPr>
          <p:cNvPr id="49" name="Oval 48"/>
          <p:cNvSpPr/>
          <p:nvPr/>
        </p:nvSpPr>
        <p:spPr>
          <a:xfrm>
            <a:off x="9281160" y="3163824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3145536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항목 ≠ 4개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3529584"/>
            <a:ext cx="1883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"형식 오류" 경고 후 건너뜀</a:t>
            </a:r>
          </a:p>
        </p:txBody>
      </p:sp>
      <p:sp>
        <p:nvSpPr>
          <p:cNvPr id="52" name="Oval 51"/>
          <p:cNvSpPr/>
          <p:nvPr/>
        </p:nvSpPr>
        <p:spPr>
          <a:xfrm>
            <a:off x="9281160" y="4050791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648" y="4032504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숫자 아님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6648" y="4416552"/>
            <a:ext cx="1883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float() 실패 → "숫자 오류" 경고</a:t>
            </a:r>
          </a:p>
        </p:txBody>
      </p:sp>
      <p:sp>
        <p:nvSpPr>
          <p:cNvPr id="55" name="Oval 54"/>
          <p:cNvSpPr/>
          <p:nvPr/>
        </p:nvSpPr>
        <p:spPr>
          <a:xfrm>
            <a:off x="9281160" y="4937759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48" y="49194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6칸 리스트 저장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648" y="5303520"/>
            <a:ext cx="1883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[전화번호, 이름, 키, 몸무게, BMI, 소견]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60" y="5897880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7A8C"/>
                </a:solidFill>
                <a:latin typeface="맑은 고딕"/>
              </a:rPr>
              <a:t>+ 파일 열기: UTF-8 실패 → CP949로 재시도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draw_rect() · write_text() — 칸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신재중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172462"/>
            <a:ext cx="8394192" cy="162687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149602"/>
            <a:ext cx="208407" cy="208407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3148584"/>
            <a:ext cx="8394192" cy="162687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3125724"/>
            <a:ext cx="208407" cy="208407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636645"/>
            <a:ext cx="8394192" cy="162687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613785"/>
            <a:ext cx="208407" cy="208407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3799331"/>
            <a:ext cx="8394192" cy="162687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3776471"/>
            <a:ext cx="208407" cy="208407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5751575"/>
            <a:ext cx="8394192" cy="162687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728715"/>
            <a:ext cx="208407" cy="208407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847088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15 </a:t>
            </a:r>
            <a:r>
              <a:rPr sz="1050">
                <a:solidFill>
                  <a:srgbClr val="6A9955"/>
                </a:solidFill>
                <a:latin typeface="Consolas"/>
              </a:rPr>
              <a:t># 글꼴 (크기를 음수로 쓰면 픽셀 단위라 화면 배율이 달라도 칸에 맞게 나온다)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009774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16 </a:t>
            </a:r>
            <a:r>
              <a:rPr sz="1050">
                <a:solidFill>
                  <a:srgbClr val="9CDCFE"/>
                </a:solidFill>
                <a:latin typeface="Consolas"/>
              </a:rPr>
              <a:t>TITLE_FONT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=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CE9178"/>
                </a:solidFill>
                <a:latin typeface="Consolas"/>
              </a:rPr>
              <a:t>맑은 고딕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-</a:t>
            </a:r>
            <a:r>
              <a:rPr sz="1050">
                <a:solidFill>
                  <a:srgbClr val="B5CEA8"/>
                </a:solidFill>
                <a:latin typeface="Consolas"/>
              </a:rPr>
              <a:t>26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CE9178"/>
                </a:solidFill>
                <a:latin typeface="Consolas"/>
              </a:rPr>
              <a:t>bold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172462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17 </a:t>
            </a:r>
            <a:r>
              <a:rPr sz="1050">
                <a:solidFill>
                  <a:srgbClr val="9CDCFE"/>
                </a:solidFill>
                <a:latin typeface="Consolas"/>
              </a:rPr>
              <a:t>CELL_FONT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=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CE9178"/>
                </a:solidFill>
                <a:latin typeface="Consolas"/>
              </a:rPr>
              <a:t>맑은 고딕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-</a:t>
            </a:r>
            <a:r>
              <a:rPr sz="1050">
                <a:solidFill>
                  <a:srgbClr val="B5CEA8"/>
                </a:solidFill>
                <a:latin typeface="Consolas"/>
              </a:rPr>
              <a:t>16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CE9178"/>
                </a:solidFill>
                <a:latin typeface="Consolas"/>
              </a:rPr>
              <a:t>normal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335149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497836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21 </a:t>
            </a:r>
            <a:r>
              <a:rPr sz="1050">
                <a:solidFill>
                  <a:srgbClr val="C586C0"/>
                </a:solidFill>
                <a:latin typeface="Consolas"/>
              </a:rPr>
              <a:t>def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CDCAA"/>
                </a:solidFill>
                <a:latin typeface="Consolas"/>
              </a:rPr>
              <a:t>draw_rect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x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y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width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height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color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  <a:r>
              <a:rPr sz="10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60523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22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CE9178"/>
                </a:solidFill>
                <a:latin typeface="Consolas"/>
              </a:rPr>
              <a:t>"""(x, y)를 왼쪽 위 꼭짓점으로 하는 색칠된 사각형을 그린다."""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23210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23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penup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985897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24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goto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x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y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148584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25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setheading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B5CEA8"/>
                </a:solidFill>
                <a:latin typeface="Consolas"/>
              </a:rPr>
              <a:t>0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  <a:r>
              <a:rPr sz="105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sz="1050">
                <a:solidFill>
                  <a:srgbClr val="6A9955"/>
                </a:solidFill>
                <a:latin typeface="Consolas"/>
              </a:rPr>
              <a:t># 오른쪽을 보게 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311271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26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pendown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73958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27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fillcolor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color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636645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28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begin_fill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799331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29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C586C0"/>
                </a:solidFill>
                <a:latin typeface="Consolas"/>
              </a:rPr>
              <a:t>for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i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C586C0"/>
                </a:solidFill>
                <a:latin typeface="Consolas"/>
              </a:rPr>
              <a:t>in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4EC9B0"/>
                </a:solidFill>
                <a:latin typeface="Consolas"/>
              </a:rPr>
              <a:t>range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B5CEA8"/>
                </a:solidFill>
                <a:latin typeface="Consolas"/>
              </a:rPr>
              <a:t>2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  <a:r>
              <a:rPr sz="10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962019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30 </a:t>
            </a:r>
            <a:r>
              <a:rPr sz="1050">
                <a:solidFill>
                  <a:srgbClr val="D4D4D4"/>
                </a:solidFill>
                <a:latin typeface="Consolas"/>
              </a:rPr>
              <a:t>    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forward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width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124706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31 </a:t>
            </a:r>
            <a:r>
              <a:rPr sz="1050">
                <a:solidFill>
                  <a:srgbClr val="D4D4D4"/>
                </a:solidFill>
                <a:latin typeface="Consolas"/>
              </a:rPr>
              <a:t>    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right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B5CEA8"/>
                </a:solidFill>
                <a:latin typeface="Consolas"/>
              </a:rPr>
              <a:t>90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287393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32 </a:t>
            </a:r>
            <a:r>
              <a:rPr sz="1050">
                <a:solidFill>
                  <a:srgbClr val="D4D4D4"/>
                </a:solidFill>
                <a:latin typeface="Consolas"/>
              </a:rPr>
              <a:t>    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forward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height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450080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33 </a:t>
            </a:r>
            <a:r>
              <a:rPr sz="1050">
                <a:solidFill>
                  <a:srgbClr val="D4D4D4"/>
                </a:solidFill>
                <a:latin typeface="Consolas"/>
              </a:rPr>
              <a:t>    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right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B5CEA8"/>
                </a:solidFill>
                <a:latin typeface="Consolas"/>
              </a:rPr>
              <a:t>90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612767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34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end_fill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775454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35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penup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938141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36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100828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37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263515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38 </a:t>
            </a:r>
            <a:r>
              <a:rPr sz="1050">
                <a:solidFill>
                  <a:srgbClr val="C586C0"/>
                </a:solidFill>
                <a:latin typeface="Consolas"/>
              </a:rPr>
              <a:t>def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CDCAA"/>
                </a:solidFill>
                <a:latin typeface="Consolas"/>
              </a:rPr>
              <a:t>write_text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x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y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text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font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color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  <a:r>
              <a:rPr sz="10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426201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39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CE9178"/>
                </a:solidFill>
                <a:latin typeface="Consolas"/>
              </a:rPr>
              <a:t>"""(x, y) 위치에 글자를 가운데 정렬로 쓴다."""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588888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40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penup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751575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41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goto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x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y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D4D4D4"/>
                </a:solidFill>
                <a:latin typeface="Consolas"/>
              </a:rPr>
              <a:t>-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B5CEA8"/>
                </a:solidFill>
                <a:latin typeface="Consolas"/>
              </a:rPr>
              <a:t>10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  <a:r>
              <a:rPr sz="1050">
                <a:solidFill>
                  <a:srgbClr val="D4D4D4"/>
                </a:solidFill>
                <a:latin typeface="Consolas"/>
              </a:rPr>
              <a:t>                   </a:t>
            </a:r>
            <a:r>
              <a:rPr sz="1050">
                <a:solidFill>
                  <a:srgbClr val="6A9955"/>
                </a:solidFill>
                <a:latin typeface="Consolas"/>
              </a:rPr>
              <a:t># 글자가 칸 세로 가운데 오도록 조금 내린다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914263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42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color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color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6076950"/>
            <a:ext cx="7909560" cy="162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050">
                <a:solidFill>
                  <a:srgbClr val="6E7681"/>
                </a:solidFill>
                <a:latin typeface="Consolas"/>
              </a:rPr>
              <a:t> 43 </a:t>
            </a:r>
            <a:r>
              <a:rPr sz="1050">
                <a:solidFill>
                  <a:srgbClr val="D4D4D4"/>
                </a:solidFill>
                <a:latin typeface="Consolas"/>
              </a:rPr>
              <a:t>    </a:t>
            </a:r>
            <a:r>
              <a:rPr sz="1050">
                <a:solidFill>
                  <a:srgbClr val="9CDCFE"/>
                </a:solidFill>
                <a:latin typeface="Consolas"/>
              </a:rPr>
              <a:t>t</a:t>
            </a:r>
            <a:r>
              <a:rPr sz="1050">
                <a:solidFill>
                  <a:srgbClr val="D4D4D4"/>
                </a:solidFill>
                <a:latin typeface="Consolas"/>
              </a:rPr>
              <a:t>.</a:t>
            </a:r>
            <a:r>
              <a:rPr sz="1050">
                <a:solidFill>
                  <a:srgbClr val="9CDCFE"/>
                </a:solidFill>
                <a:latin typeface="Consolas"/>
              </a:rPr>
              <a:t>write</a:t>
            </a:r>
            <a:r>
              <a:rPr sz="1050">
                <a:solidFill>
                  <a:srgbClr val="D4D4D4"/>
                </a:solidFill>
                <a:latin typeface="Consolas"/>
              </a:rPr>
              <a:t>(</a:t>
            </a:r>
            <a:r>
              <a:rPr sz="1050">
                <a:solidFill>
                  <a:srgbClr val="9CDCFE"/>
                </a:solidFill>
                <a:latin typeface="Consolas"/>
              </a:rPr>
              <a:t>text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align</a:t>
            </a:r>
            <a:r>
              <a:rPr sz="1050">
                <a:solidFill>
                  <a:srgbClr val="D4D4D4"/>
                </a:solidFill>
                <a:latin typeface="Consolas"/>
              </a:rPr>
              <a:t>=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CE9178"/>
                </a:solidFill>
                <a:latin typeface="Consolas"/>
              </a:rPr>
              <a:t>center</a:t>
            </a:r>
            <a:r>
              <a:rPr sz="1050">
                <a:solidFill>
                  <a:srgbClr val="CE9178"/>
                </a:solidFill>
                <a:latin typeface="Consolas"/>
              </a:rPr>
              <a:t>"</a:t>
            </a:r>
            <a:r>
              <a:rPr sz="1050">
                <a:solidFill>
                  <a:srgbClr val="D4D4D4"/>
                </a:solidFill>
                <a:latin typeface="Consolas"/>
              </a:rPr>
              <a:t>,</a:t>
            </a:r>
            <a:r>
              <a:rPr sz="1050">
                <a:solidFill>
                  <a:srgbClr val="D4D4D4"/>
                </a:solidFill>
                <a:latin typeface="Consolas"/>
              </a:rPr>
              <a:t> </a:t>
            </a:r>
            <a:r>
              <a:rPr sz="1050">
                <a:solidFill>
                  <a:srgbClr val="9CDCFE"/>
                </a:solidFill>
                <a:latin typeface="Consolas"/>
              </a:rPr>
              <a:t>font</a:t>
            </a:r>
            <a:r>
              <a:rPr sz="1050">
                <a:solidFill>
                  <a:srgbClr val="D4D4D4"/>
                </a:solidFill>
                <a:latin typeface="Consolas"/>
              </a:rPr>
              <a:t>=</a:t>
            </a:r>
            <a:r>
              <a:rPr sz="1050">
                <a:solidFill>
                  <a:srgbClr val="9CDCFE"/>
                </a:solidFill>
                <a:latin typeface="Consolas"/>
              </a:rPr>
              <a:t>font</a:t>
            </a:r>
            <a:r>
              <a:rPr sz="10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45" name="Oval 44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음수 글꼴 크기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픽셀 단위 → 배율이 달라도 칸 안에</a:t>
            </a:r>
          </a:p>
        </p:txBody>
      </p:sp>
      <p:sp>
        <p:nvSpPr>
          <p:cNvPr id="48" name="Oval 47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방향 고정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매번 오른쪽을 보고 시작</a:t>
            </a:r>
          </a:p>
        </p:txBody>
      </p:sp>
      <p:sp>
        <p:nvSpPr>
          <p:cNvPr id="51" name="Oval 50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색 채우기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begin_fill ~ end_fill 사이를 색칠</a:t>
            </a:r>
          </a:p>
        </p:txBody>
      </p:sp>
      <p:sp>
        <p:nvSpPr>
          <p:cNvPr id="54" name="Oval 53"/>
          <p:cNvSpPr/>
          <p:nvPr/>
        </p:nvSpPr>
        <p:spPr>
          <a:xfrm>
            <a:off x="9281160" y="42702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8" y="42519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사각형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48" y="463600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전진 → 우회전 90° 를 2번 반복</a:t>
            </a:r>
          </a:p>
        </p:txBody>
      </p:sp>
      <p:sp>
        <p:nvSpPr>
          <p:cNvPr id="57" name="Oval 56"/>
          <p:cNvSpPr/>
          <p:nvPr/>
        </p:nvSpPr>
        <p:spPr>
          <a:xfrm>
            <a:off x="9281160" y="523036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6648" y="521208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세로 가운데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8" y="559612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align="center"는 가로만 → y를 10 내림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draw_row() — 칸을 이어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신재중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35661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590800"/>
            <a:ext cx="8394192" cy="185928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567940"/>
            <a:ext cx="231648" cy="23164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962656"/>
            <a:ext cx="8394192" cy="185928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939796"/>
            <a:ext cx="231648" cy="23164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520440"/>
            <a:ext cx="8394192" cy="185928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497580"/>
            <a:ext cx="231648" cy="23164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4264152"/>
            <a:ext cx="8394192" cy="185928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4241292"/>
            <a:ext cx="231648" cy="23164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47088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65 </a:t>
            </a:r>
            <a:r>
              <a:rPr sz="1200">
                <a:solidFill>
                  <a:srgbClr val="C586C0"/>
                </a:solidFill>
                <a:latin typeface="Consolas"/>
              </a:rPr>
              <a:t>def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draw_row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left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cells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bg_color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text_color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033015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66 </a:t>
            </a: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"""한 줄(행)을 그린다. cells는 칸에 들어갈 글자 리스트."""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218944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67 </a:t>
            </a: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9CDCFE"/>
                </a:solidFill>
                <a:latin typeface="Consolas"/>
              </a:rPr>
              <a:t>x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left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404872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68 </a:t>
            </a: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C586C0"/>
                </a:solidFill>
                <a:latin typeface="Consolas"/>
              </a:rPr>
              <a:t>for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i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C586C0"/>
                </a:solidFill>
                <a:latin typeface="Consolas"/>
              </a:rPr>
              <a:t>in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4EC9B0"/>
                </a:solidFill>
                <a:latin typeface="Consolas"/>
              </a:rPr>
              <a:t>range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4EC9B0"/>
                </a:solidFill>
                <a:latin typeface="Consolas"/>
              </a:rPr>
              <a:t>len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cells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90800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69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width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COL_WIDTHS</a:t>
            </a:r>
            <a:r>
              <a:rPr sz="1200">
                <a:solidFill>
                  <a:srgbClr val="D4D4D4"/>
                </a:solidFill>
                <a:latin typeface="Consolas"/>
              </a:rPr>
              <a:t>[</a:t>
            </a:r>
            <a:r>
              <a:rPr sz="1200">
                <a:solidFill>
                  <a:srgbClr val="9CDCFE"/>
                </a:solidFill>
                <a:latin typeface="Consolas"/>
              </a:rPr>
              <a:t>i</a:t>
            </a:r>
            <a:r>
              <a:rPr sz="1200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76728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70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t</a:t>
            </a:r>
            <a:r>
              <a:rPr sz="1200">
                <a:solidFill>
                  <a:srgbClr val="D4D4D4"/>
                </a:solidFill>
                <a:latin typeface="Consolas"/>
              </a:rPr>
              <a:t>.</a:t>
            </a:r>
            <a:r>
              <a:rPr sz="1200">
                <a:solidFill>
                  <a:srgbClr val="9CDCFE"/>
                </a:solidFill>
                <a:latin typeface="Consolas"/>
              </a:rPr>
              <a:t>pencolor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CE9178"/>
                </a:solidFill>
                <a:latin typeface="Consolas"/>
              </a:rPr>
              <a:t>"</a:t>
            </a:r>
            <a:r>
              <a:rPr sz="1200">
                <a:solidFill>
                  <a:srgbClr val="CE9178"/>
                </a:solidFill>
                <a:latin typeface="Consolas"/>
              </a:rPr>
              <a:t>gray</a:t>
            </a:r>
            <a:r>
              <a:rPr sz="1200">
                <a:solidFill>
                  <a:srgbClr val="CE9178"/>
                </a:solidFill>
                <a:latin typeface="Consolas"/>
              </a:rPr>
              <a:t>"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62656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71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draw_rect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x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width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ROW_HEIGHT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bg_color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148584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334512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73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color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text_color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520440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74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C586C0"/>
                </a:solidFill>
                <a:latin typeface="Consolas"/>
              </a:rPr>
              <a:t>if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i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5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C586C0"/>
                </a:solidFill>
                <a:latin typeface="Consolas"/>
              </a:rPr>
              <a:t>and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text_color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"</a:t>
            </a:r>
            <a:r>
              <a:rPr sz="1200">
                <a:solidFill>
                  <a:srgbClr val="CE9178"/>
                </a:solidFill>
                <a:latin typeface="Consolas"/>
              </a:rPr>
              <a:t>black</a:t>
            </a:r>
            <a:r>
              <a:rPr sz="1200">
                <a:solidFill>
                  <a:srgbClr val="CE9178"/>
                </a:solidFill>
                <a:latin typeface="Consolas"/>
              </a:rPr>
              <a:t>"</a:t>
            </a:r>
            <a:r>
              <a:rPr sz="1200">
                <a:solidFill>
                  <a:srgbClr val="D4D4D4"/>
                </a:solidFill>
                <a:latin typeface="Consolas"/>
              </a:rPr>
              <a:t>:</a:t>
            </a:r>
            <a:r>
              <a:rPr sz="1200">
                <a:solidFill>
                  <a:srgbClr val="D4D4D4"/>
                </a:solidFill>
                <a:latin typeface="Consolas"/>
              </a:rPr>
              <a:t>     </a:t>
            </a:r>
            <a:r>
              <a:rPr sz="1200">
                <a:solidFill>
                  <a:srgbClr val="6A9955"/>
                </a:solidFill>
                <a:latin typeface="Consolas"/>
              </a:rPr>
              <a:t># 소견 칸은 색을 다르게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06367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75 </a:t>
            </a:r>
            <a:r>
              <a:rPr sz="12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200">
                <a:solidFill>
                  <a:srgbClr val="9CDCFE"/>
                </a:solidFill>
                <a:latin typeface="Consolas"/>
              </a:rPr>
              <a:t>color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category_color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cells</a:t>
            </a:r>
            <a:r>
              <a:rPr sz="1200">
                <a:solidFill>
                  <a:srgbClr val="D4D4D4"/>
                </a:solidFill>
                <a:latin typeface="Consolas"/>
              </a:rPr>
              <a:t>[</a:t>
            </a:r>
            <a:r>
              <a:rPr sz="1200">
                <a:solidFill>
                  <a:srgbClr val="9CDCFE"/>
                </a:solidFill>
                <a:latin typeface="Consolas"/>
              </a:rPr>
              <a:t>i</a:t>
            </a:r>
            <a:r>
              <a:rPr sz="1200">
                <a:solidFill>
                  <a:srgbClr val="D4D4D4"/>
                </a:solidFill>
                <a:latin typeface="Consolas"/>
              </a:rPr>
              <a:t>]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892296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76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write_text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x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+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width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/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2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-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ROW_HEIGHT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/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2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cells</a:t>
            </a:r>
            <a:r>
              <a:rPr sz="1200">
                <a:solidFill>
                  <a:srgbClr val="D4D4D4"/>
                </a:solidFill>
                <a:latin typeface="Consolas"/>
              </a:rPr>
              <a:t>[</a:t>
            </a:r>
            <a:r>
              <a:rPr sz="1200">
                <a:solidFill>
                  <a:srgbClr val="9CDCFE"/>
                </a:solidFill>
                <a:latin typeface="Consolas"/>
              </a:rPr>
              <a:t>i</a:t>
            </a:r>
            <a:r>
              <a:rPr sz="1200">
                <a:solidFill>
                  <a:srgbClr val="D4D4D4"/>
                </a:solidFill>
                <a:latin typeface="Consolas"/>
              </a:rPr>
              <a:t>]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CELL_FONT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color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78224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77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64152"/>
            <a:ext cx="7909560" cy="185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00">
                <a:solidFill>
                  <a:srgbClr val="6E7681"/>
                </a:solidFill>
                <a:latin typeface="Consolas"/>
              </a:rPr>
              <a:t> 78 </a:t>
            </a: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9CDCFE"/>
                </a:solidFill>
                <a:latin typeface="Consolas"/>
              </a:rPr>
              <a:t>x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=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x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+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width</a:t>
            </a:r>
          </a:p>
        </p:txBody>
      </p:sp>
      <p:sp>
        <p:nvSpPr>
          <p:cNvPr id="30" name="Oval 29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칸마다 다른 너비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COL_WIDTHS = [170, 100, 100, 120, 90, 100]</a:t>
            </a:r>
          </a:p>
        </p:txBody>
      </p:sp>
      <p:sp>
        <p:nvSpPr>
          <p:cNvPr id="33" name="Oval 32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칸 그리기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회색 테두리 + 배경색</a:t>
            </a:r>
          </a:p>
        </p:txBody>
      </p:sp>
      <p:sp>
        <p:nvSpPr>
          <p:cNvPr id="36" name="Oval 35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소견 칸만 색 글씨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6번째 칸(인덱스 5) → category_color()</a:t>
            </a:r>
          </a:p>
        </p:txBody>
      </p:sp>
      <p:sp>
        <p:nvSpPr>
          <p:cNvPr id="39" name="Oval 38"/>
          <p:cNvSpPr/>
          <p:nvPr/>
        </p:nvSpPr>
        <p:spPr>
          <a:xfrm>
            <a:off x="9281160" y="42702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42519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다음 칸으로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463600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x를 칸 너비만큼 오른쪽으로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57800"/>
            <a:ext cx="2125980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257800"/>
            <a:ext cx="21259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전화번호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-340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74620" y="5257800"/>
            <a:ext cx="1250576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4620" y="5257800"/>
            <a:ext cx="1250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이름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0300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-170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25196" y="5257800"/>
            <a:ext cx="1250576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25196" y="5257800"/>
            <a:ext cx="1250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키(cm)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0876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-70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75772" y="5257800"/>
            <a:ext cx="1500691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75772" y="5257800"/>
            <a:ext cx="150069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몸무게(kg)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1452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6464" y="5257800"/>
            <a:ext cx="1125518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6464" y="5257800"/>
            <a:ext cx="112551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BMI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2144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150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01983" y="5257800"/>
            <a:ext cx="1250576" cy="502920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1983" y="5257800"/>
            <a:ext cx="1250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소견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7663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240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58338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36414"/>
                </a:solidFill>
                <a:latin typeface="Consolas"/>
              </a:rPr>
              <a:t>340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144768"/>
            <a:ext cx="8503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각 칸의 왼쪽 x: -340에서 시작해 너비만큼 더해 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category_color() — 소견별 글자 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이서준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120640" cy="32918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12064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544318"/>
            <a:ext cx="5010912" cy="232410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523362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3706367"/>
            <a:ext cx="5010912" cy="232410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3685413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53 </a:t>
            </a:r>
            <a:r>
              <a:rPr sz="1500">
                <a:solidFill>
                  <a:srgbClr val="C586C0"/>
                </a:solidFill>
                <a:latin typeface="Consolas"/>
              </a:rPr>
              <a:t>def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CDCAA"/>
                </a:solidFill>
                <a:latin typeface="Consolas"/>
              </a:rPr>
              <a:t>category_color</a:t>
            </a:r>
            <a:r>
              <a:rPr sz="1500">
                <a:solidFill>
                  <a:srgbClr val="D4D4D4"/>
                </a:solidFill>
                <a:latin typeface="Consolas"/>
              </a:rPr>
              <a:t>(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)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7949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54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E9178"/>
                </a:solidFill>
                <a:latin typeface="Consolas"/>
              </a:rPr>
              <a:t>"""소견에 따라 글자 색을 정한다."""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1190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55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저체중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4431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56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blue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7672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57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정상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0913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58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green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4154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59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과체중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7395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60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orange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0636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61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else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3877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62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red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blue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47088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green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5536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5536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orange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3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0"/>
                </a:solidFill>
                <a:latin typeface="맑은 고딕"/>
              </a:rPr>
              <a:t>① 신호등처럼 위험할수록 눈에 띄는 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0"/>
                </a:solidFill>
                <a:latin typeface="맑은 고딕"/>
              </a:rPr>
              <a:t>② 마지막을 else로 → 어떤 값이 와도 색을 반환 (None 오류 없음)</a:t>
            </a:r>
          </a:p>
        </p:txBody>
      </p:sp>
      <p:pic>
        <p:nvPicPr>
          <p:cNvPr id="35" name="Picture 34" descr="run_window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605272" cy="369373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35040" y="5120640"/>
            <a:ext cx="5605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7명 중 저체중 1 · 정상 4 · 과체중 1 · 비만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배운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큰 문제를 작은 함수로 나누고,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각자 맡은 함수를 합쳐 하나의 프로그램으로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E4E9"/>
                </a:solidFill>
                <a:latin typeface="맑은 고딕"/>
              </a:rPr>
              <a:t>README: 팀 소개 · 문제 · 설계 · 파일 설명 · 실행 방법 · 결과 · 역할 · 소감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실행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57200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맑은 고딕"/>
              </a:rPr>
              <a:t>터미널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bmi.py</a:t>
            </a:r>
          </a:p>
          <a:p>
            <a:pPr algn="l">
              <a:spcAft>
                <a:spcPts val="2200"/>
              </a:spcAft>
            </a:pPr>
            <a:r>
              <a:rPr sz="1400" b="0">
                <a:solidFill>
                  <a:srgbClr val="7EE08A"/>
                </a:solidFill>
                <a:latin typeface="Consolas"/>
              </a:rPr>
              <a:t>test_bmi 통과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bmi_table.py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A999E"/>
                </a:solidFill>
                <a:latin typeface="Consolas"/>
              </a:rPr>
              <a:t># Turtle 창이 열리고 표가 그려짐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99E"/>
                </a:solidFill>
                <a:latin typeface="Consolas"/>
              </a:rPr>
              <a:t># 창을 닫으면 종료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75488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테스트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548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E4E9"/>
                </a:solidFill>
                <a:latin typeface="맑은 고딕"/>
              </a:rPr>
              <a:t>계산 함수 검증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53212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표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5321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E4E9"/>
                </a:solidFill>
                <a:latin typeface="맑은 고딕"/>
              </a:rPr>
              <a:t>GUI 결과표</a:t>
            </a:r>
          </a:p>
        </p:txBody>
      </p:sp>
      <p:pic>
        <p:nvPicPr>
          <p:cNvPr id="15" name="Picture 14" descr="run_window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25880"/>
            <a:ext cx="6245352" cy="4115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