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>
    <p:restoredLeft sz="15611"/>
    <p:restoredTop sz="94671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89C1C7-3DCD-1040-A9CF-14679D8B5DDD}" type="datetime1">
              <a:rPr lang="en-US"/>
              <a:pPr lvl="0">
                <a:defRPr/>
              </a:pPr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B5E49A5-4136-284D-997B-48E1D791AD67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안녕하십니까, 3조 팀장 이찬민입니다. 저희 팀은 이찬민, 이우성, 신재중, 이서준 네 명이고, HW01 BMI 계산 결과표 과제를 실제 코드를 보면서 발표하겠습니다.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과제는 health.txt를 읽어 사람마다 BMI를 계산하고 Turtle로 표를 그리는 프로그램입니다. 계산은 bmi.py, 그리기는 bmi_table.py로 나눴고, 아래 코드처럼 bmi_table.py가 from bmi import read_health_file로 계산 함수를 가져다 씁니다. 그래서 계산 부분은 화면 없이 따로 테스트할 수 있습니다. 오른쪽이 함수 호출 흐름입니다. 역할도 이 함수 단위로 나눴고, 각자 작성한 코드는 GitHub로 합쳤습니다.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제가 작성한 main()입니다. ① 실행 위치와 상관없이 bmi_table.py와 같은 폴더의 health.txt 경로를 만들고, read_health_file()로 읽어 사람별 리스트를 받습니다. ② 데이터가 0명이면 메시지만 출력하고 끝냅니다. ③ 창 높이는 사람 수에 헤더 한 줄을 더해서 계산하기 때문에 데이터가 늘어도 표가 잘리지 않습니다. ④ tracer(0)로 그리는 애니메이션을 끄고, ⑤ draw_table()로 표를 그린 뒤, ⑥ update()로 한 번에 보여줍니다. 다음은 BMI 계산을 맡은 이우성 학생입니다.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[이우성] BMI 계산과 파일 읽기를 맡은 이우성입니다. calculate_bmi()는 ① 파일의 키가 cm라서 100으로 나눠 미터로 바꾸고, ② 몸무게를 키의 제곱으로 나눕니다. 175cm, 72kg이면 약 23.5입니다. ③ bmi_category()는 WHO 기준으로 18.5 미만 저체중, 25 미만 정상, 30 미만 과체중, 나머지는 비만입니다. 파일은 read_health_file()이 한 줄씩 읽어 이 두 함수로 계산하고, 잘못된 줄은 경고만 출력하고 건너뜁니다. 다음은 신재중 학생입니다.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[신재중] 표 그리기를 맡은 신재중입니다. 표를 칸 하나 → 한 줄 → 표 전체로 나눠 만들었습니다. draw_rect()는 칸 하나를 그립니다. 왼쪽 위로 이동한 뒤 ② setheading(0)으로 오른쪽을 보게 하고, ③ begin_fill과 end_fill 사이에서 ④ 전진·우회전을 두 번 반복해 색칠된 사각형을 만듭니다. write_text()는 ⑤ align center가 가로만 맞춰 주기 때문에 y를 10 내려 세로도 가운데로 보이게 했습니다. ① 글꼴 크기는 -16처럼 음수로 써서 픽셀 단위로 고정했습니다. 이 칸을 draw_row()가 옆으로 이어 한 줄을 만들고, 사람 수만큼 반복하면 표가 됩니다. 다음은 이서준 학생입니다.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[이서준] 소견 색 함수와 보고서를 맡은 이서준입니다. category_color()는 if/elif로 소견을 비교해 ① 저체중은 파랑, 정상은 초록, 과체중은 주황을 돌려줍니다. ② 마지막은 else로 써서 그 외 비만은 빨강이고, 어떤 값이 들어와도 항상 색 하나를 돌려주므로 None 때문에 오류가 나지 않습니다. 오른쪽이 실행 결과입니다. 7명 중 신재중 학생이 17.1로 저체중, 이서준이 27.2로 과체중, 윤종하가 34.6으로 비만, 나머지 4명은 정상입니다.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[이찬민] 이어서 실제로 실행해 보겠습니다. 먼저 python bmi.py로 테스트를 실행하면 'test_bmi 통과'가 나옵니다. 다음 python bmi_table.py를 실행하면 Turtle 창이 열리고 7명의 BMI 결과표가 한 번에 그려집니다. 창을 닫으면 종료됩니다.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/>
              <a:t>[이서준] README는 팀 소개, 문제, 설계, 파일 설명, 실행 방법, 결과, 역할, 소감 순서로 정리했습니다. 이번 과제로 큰 문제를 작은 함수로 나누고, 각자 맡은 함수를 합쳐 하나의 프로그램을 만드는 과정을 배웠습니다. 이상으로 3조 발표를 마치겠습니다. 감사합니다.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anchor="ctr"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8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프로그래밍 HW01 · 3조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BMI 계산 결과표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맑은 고딕"/>
              </a:rPr>
              <a:t>health.txt → BMI 계산 → Turtle GUI 표 출력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이찬민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팀장 · 설계 · main()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이우성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BMI 계산 · 파일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신재중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Turtle 칸 그리기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이서준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category_color() ·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문제와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과제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health.txt의 전화번호·이름·키·몸무게를 읽어 BMI를 계산하고 Turtle로 표를 그린다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49377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계산 담당 — 화면 없이 테스트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49377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bmi_table.py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그리기 담당 — 계산 함수를 import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4937760" cy="132588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92040"/>
            <a:ext cx="493776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13248"/>
            <a:ext cx="434340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 6 </a:t>
            </a:r>
            <a:r>
              <a:rPr sz="1500">
                <a:solidFill>
                  <a:srgbClr val="C586C0"/>
                </a:solidFill>
                <a:latin typeface="Consolas"/>
              </a:rPr>
              <a:t>import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turtle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645658"/>
            <a:ext cx="434340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 7 </a:t>
            </a:r>
            <a:r>
              <a:rPr sz="1500">
                <a:solidFill>
                  <a:srgbClr val="C586C0"/>
                </a:solidFill>
                <a:latin typeface="Consolas"/>
              </a:rPr>
              <a:t>from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bmi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586C0"/>
                </a:solidFill>
                <a:latin typeface="Consolas"/>
              </a:rPr>
              <a:t>import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read_health_file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함수 호출 흐름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main()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82880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8EEF2"/>
                </a:solidFill>
                <a:latin typeface="맑은 고딕"/>
              </a:rPr>
              <a:t>프로그램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69748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69748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read_health_file()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69748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파일 → 리스트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356616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56616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draw_table()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56616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표 전체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443484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443484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draw_row()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43484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한 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303520"/>
            <a:ext cx="4206240" cy="64008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303520"/>
            <a:ext cx="2651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draw_rect()  write_text()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59" y="53035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칸 하나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역할은 함수 단위로 나누고 GitHub로 합침 (add → commit → pull → push)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main() — 프로그램의 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428113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405253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621788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598928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396488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373628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3783837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3760977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" y="4171188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4148327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3" y="4558538"/>
            <a:ext cx="8394192" cy="193675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4535678"/>
            <a:ext cx="239395" cy="239395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8470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113 </a:t>
            </a:r>
            <a:r>
              <a:rPr sz="1250">
                <a:solidFill>
                  <a:srgbClr val="C586C0"/>
                </a:solidFill>
                <a:latin typeface="Consolas"/>
              </a:rPr>
              <a:t>def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CDCAA"/>
                </a:solidFill>
                <a:latin typeface="Consolas"/>
              </a:rPr>
              <a:t>main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040762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114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# 실행 위치와 상관없이 이 파일과 같은 폴더의 health.txt를 읽는다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2344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115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path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os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path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join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os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path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dirname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os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path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abspath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__file__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health.txt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4281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116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records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read_health_file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path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6217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117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</a:rPr>
              <a:t>if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4EC9B0"/>
                </a:solidFill>
                <a:latin typeface="Consolas"/>
              </a:rPr>
              <a:t>len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records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0</a:t>
            </a:r>
            <a:r>
              <a:rPr sz="125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8154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118 </a:t>
            </a:r>
            <a:r>
              <a:rPr sz="1250">
                <a:solidFill>
                  <a:srgbClr val="D4D4D4"/>
                </a:solidFill>
                <a:latin typeface="Consolas"/>
              </a:rPr>
              <a:t>        </a:t>
            </a:r>
            <a:r>
              <a:rPr sz="1250">
                <a:solidFill>
                  <a:srgbClr val="4EC9B0"/>
                </a:solidFill>
                <a:latin typeface="Consolas"/>
              </a:rPr>
              <a:t>print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CE9178"/>
                </a:solidFill>
                <a:latin typeface="Consolas"/>
              </a:rPr>
              <a:t>health.txt에 표시할 데이터가 없습니다.</a:t>
            </a:r>
            <a:r>
              <a:rPr sz="1250">
                <a:solidFill>
                  <a:srgbClr val="CE9178"/>
                </a:solidFill>
                <a:latin typeface="Consolas"/>
              </a:rPr>
              <a:t>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091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119 </a:t>
            </a:r>
            <a:r>
              <a:rPr sz="1250">
                <a:solidFill>
                  <a:srgbClr val="D4D4D4"/>
                </a:solidFill>
                <a:latin typeface="Consolas"/>
              </a:rPr>
              <a:t>        </a:t>
            </a:r>
            <a:r>
              <a:rPr sz="1250">
                <a:solidFill>
                  <a:srgbClr val="C586C0"/>
                </a:solidFill>
                <a:latin typeface="Consolas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2028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3964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123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height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=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ROW_HEIGHT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*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4EC9B0"/>
                </a:solidFill>
                <a:latin typeface="Consolas"/>
              </a:rPr>
              <a:t>len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records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+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1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+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TITLE_SPACE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+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MARGIN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*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2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</a:rPr>
              <a:t>+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5901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783837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128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screen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tracer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0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</a:rPr>
              <a:t>                    </a:t>
            </a:r>
            <a:r>
              <a:rPr sz="1250">
                <a:solidFill>
                  <a:srgbClr val="6A9955"/>
                </a:solidFill>
                <a:latin typeface="Consolas"/>
              </a:rPr>
              <a:t># 그리는 과정을 생략하고 한 번에 보여준다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97751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17118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132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draw_table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9CDCFE"/>
                </a:solidFill>
                <a:latin typeface="Consolas"/>
              </a:rPr>
              <a:t>t</a:t>
            </a:r>
            <a:r>
              <a:rPr sz="1250">
                <a:solidFill>
                  <a:srgbClr val="D4D4D4"/>
                </a:solidFill>
                <a:latin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9CDCFE"/>
                </a:solidFill>
                <a:latin typeface="Consolas"/>
              </a:rPr>
              <a:t>records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364863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558538"/>
            <a:ext cx="7909560" cy="193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250">
                <a:solidFill>
                  <a:srgbClr val="6E7681"/>
                </a:solidFill>
                <a:latin typeface="Consolas"/>
              </a:rPr>
              <a:t>134 </a:t>
            </a: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9CDCFE"/>
                </a:solidFill>
                <a:latin typeface="Consolas"/>
              </a:rPr>
              <a:t>screen</a:t>
            </a:r>
            <a:r>
              <a:rPr sz="1250">
                <a:solidFill>
                  <a:srgbClr val="D4D4D4"/>
                </a:solidFill>
                <a:latin typeface="Consolas"/>
              </a:rPr>
              <a:t>.</a:t>
            </a:r>
            <a:r>
              <a:rPr sz="1250">
                <a:solidFill>
                  <a:srgbClr val="9CDCFE"/>
                </a:solidFill>
                <a:latin typeface="Consolas"/>
              </a:rPr>
              <a:t>update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5" name="Oval 34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파일 읽기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175564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이 파일 폴더의 health.txt → records</a:t>
            </a:r>
          </a:p>
        </p:txBody>
      </p:sp>
      <p:sp>
        <p:nvSpPr>
          <p:cNvPr id="38" name="Oval 37"/>
          <p:cNvSpPr/>
          <p:nvPr/>
        </p:nvSpPr>
        <p:spPr>
          <a:xfrm>
            <a:off x="9281160" y="22357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22174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데이터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260146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0명이면 빈 창 없이 종료</a:t>
            </a:r>
          </a:p>
        </p:txBody>
      </p:sp>
      <p:sp>
        <p:nvSpPr>
          <p:cNvPr id="41" name="Oval 40"/>
          <p:cNvSpPr/>
          <p:nvPr/>
        </p:nvSpPr>
        <p:spPr>
          <a:xfrm>
            <a:off x="9281160" y="3081527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3063239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창 크기 계산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3447287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사람 수 + 1(헤더)만큼 높이 → 표가 잘리지 않음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39273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39090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애니메이션 끄기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429310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한 줄씩 그리는 과정 생략</a:t>
            </a:r>
          </a:p>
        </p:txBody>
      </p:sp>
      <p:sp>
        <p:nvSpPr>
          <p:cNvPr id="47" name="Oval 46"/>
          <p:cNvSpPr/>
          <p:nvPr/>
        </p:nvSpPr>
        <p:spPr>
          <a:xfrm>
            <a:off x="9281160" y="4773167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6648" y="4754879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표 그리기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5138927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draw_table()에 records 전달</a:t>
            </a:r>
          </a:p>
        </p:txBody>
      </p:sp>
      <p:sp>
        <p:nvSpPr>
          <p:cNvPr id="50" name="Oval 49"/>
          <p:cNvSpPr/>
          <p:nvPr/>
        </p:nvSpPr>
        <p:spPr>
          <a:xfrm>
            <a:off x="9281160" y="56189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56007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한 번에 표시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48" y="5984748"/>
            <a:ext cx="1883664" cy="434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다 그린 뒤 화면 갱신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BMI 계산과 소견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이우성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342896"/>
            <a:ext cx="8394192" cy="247903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329688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590799"/>
            <a:ext cx="8394192" cy="247903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577591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582415"/>
            <a:ext cx="8394192" cy="247903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569207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47088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 4 </a:t>
            </a: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calculate_bmi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weight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height_cm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94992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 5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"""몸무게(kg)와 키(cm)로 BMI를 계산한다."""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342896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 6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height_m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height_cm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/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cm -&gt;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0799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 7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weight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/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height_m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*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height_m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38704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86608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10 </a:t>
            </a: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bmi_category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bmi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34512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11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"""BMI 값에 따른 소견을 반환한다. (WHO 기준)"""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582415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12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bmi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18.5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0319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13 </a:t>
            </a: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저체중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78223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14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elif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bmi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25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26128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15 </a:t>
            </a: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정상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74032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16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elif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bmi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30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21936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17 </a:t>
            </a: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과체중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69840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18 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else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317744"/>
            <a:ext cx="7909560" cy="24790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>
                <a:solidFill>
                  <a:srgbClr val="6E7681"/>
                </a:solidFill>
                <a:latin typeface="Consolas"/>
              </a:rPr>
              <a:t> 19 </a:t>
            </a: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비만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9" name="Oval 28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cm → m 변환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175564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파일의 키는 cm라서 100으로 나눔</a:t>
            </a:r>
          </a:p>
        </p:txBody>
      </p:sp>
      <p:sp>
        <p:nvSpPr>
          <p:cNvPr id="32" name="Oval 31"/>
          <p:cNvSpPr/>
          <p:nvPr/>
        </p:nvSpPr>
        <p:spPr>
          <a:xfrm>
            <a:off x="9281160" y="23500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23317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BMI 공식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71576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몸무게 ÷ 키(m)²   72 ÷ 1.75² ≈ 23.5</a:t>
            </a:r>
          </a:p>
        </p:txBody>
      </p:sp>
      <p:sp>
        <p:nvSpPr>
          <p:cNvPr id="35" name="Oval 34"/>
          <p:cNvSpPr/>
          <p:nvPr/>
        </p:nvSpPr>
        <p:spPr>
          <a:xfrm>
            <a:off x="9281160" y="331012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2918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WHO 기준 판정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67588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if/elif가 위에서부터 차례로 검사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&lt; 18.5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84664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4664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4664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&lt; 25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88168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88168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8168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&lt; 30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91672" y="5623560"/>
            <a:ext cx="548640" cy="777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91672" y="57150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035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F6B70"/>
                </a:solidFill>
                <a:latin typeface="맑은 고딕"/>
              </a:rPr>
              <a:t>≥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draw_rect() · write_text() — 칸 그리기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신재중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850392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50392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046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1847088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824228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2652776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2629916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3" y="3257042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234182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3" y="3458463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3435604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" y="5271262"/>
            <a:ext cx="8394192" cy="201422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5248401"/>
            <a:ext cx="247142" cy="247142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847088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18 </a:t>
            </a:r>
            <a:r>
              <a:rPr sz="1300">
                <a:solidFill>
                  <a:srgbClr val="9CDCFE"/>
                </a:solidFill>
                <a:latin typeface="Consolas"/>
              </a:rPr>
              <a:t>CELL_FONT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CE9178"/>
                </a:solidFill>
                <a:latin typeface="Consolas"/>
              </a:rPr>
              <a:t>맑은 고딕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B5CEA8"/>
                </a:solidFill>
                <a:latin typeface="Consolas"/>
              </a:rPr>
              <a:t>16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CE9178"/>
                </a:solidFill>
                <a:latin typeface="Consolas"/>
              </a:rPr>
              <a:t>normal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048509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24993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22 </a:t>
            </a:r>
            <a:r>
              <a:rPr sz="1300">
                <a:solidFill>
                  <a:srgbClr val="C586C0"/>
                </a:solidFill>
                <a:latin typeface="Consolas"/>
              </a:rPr>
              <a:t>def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CDCAA"/>
                </a:solidFill>
                <a:latin typeface="Consolas"/>
              </a:rPr>
              <a:t>draw_rect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x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y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width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height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color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451354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652776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26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setheading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# 오른쪽을 보게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854198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055620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28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fillcolor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color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5704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29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begin_fill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458463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30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C586C0"/>
                </a:solidFill>
                <a:latin typeface="Consolas"/>
              </a:rPr>
              <a:t>for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i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586C0"/>
                </a:solidFill>
                <a:latin typeface="Consolas"/>
              </a:rPr>
              <a:t>in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4EC9B0"/>
                </a:solidFill>
                <a:latin typeface="Consolas"/>
              </a:rPr>
              <a:t>range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659885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31 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forward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width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861307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32 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right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90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062730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33 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forward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height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6415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34 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right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90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465574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35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end_fill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666996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68418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39 </a:t>
            </a:r>
            <a:r>
              <a:rPr sz="1300">
                <a:solidFill>
                  <a:srgbClr val="C586C0"/>
                </a:solidFill>
                <a:latin typeface="Consolas"/>
              </a:rPr>
              <a:t>def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CDCAA"/>
                </a:solidFill>
                <a:latin typeface="Consolas"/>
              </a:rPr>
              <a:t>write_text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x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y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text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font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color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069840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271262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42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goto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x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y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-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# 글자가 칸 세로 가운데 오도록 조금 내린다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472683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   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674105"/>
            <a:ext cx="7909560" cy="20142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300">
                <a:solidFill>
                  <a:srgbClr val="6E7681"/>
                </a:solidFill>
                <a:latin typeface="Consolas"/>
              </a:rPr>
              <a:t> 44 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9CDCFE"/>
                </a:solidFill>
                <a:latin typeface="Consolas"/>
              </a:rPr>
              <a:t>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9CDCFE"/>
                </a:solidFill>
                <a:latin typeface="Consolas"/>
              </a:rPr>
              <a:t>write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9CDCFE"/>
                </a:solidFill>
                <a:latin typeface="Consolas"/>
              </a:rPr>
              <a:t>text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align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CE9178"/>
                </a:solidFill>
                <a:latin typeface="Consolas"/>
              </a:rPr>
              <a:t>center</a:t>
            </a:r>
            <a:r>
              <a:rPr sz="1300">
                <a:solidFill>
                  <a:srgbClr val="CE9178"/>
                </a:solidFill>
                <a:latin typeface="Consolas"/>
              </a:rPr>
              <a:t>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9CDCFE"/>
                </a:solidFill>
                <a:latin typeface="Consolas"/>
              </a:rPr>
              <a:t>font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9CDCFE"/>
                </a:solidFill>
                <a:latin typeface="Consolas"/>
              </a:rPr>
              <a:t>font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38" name="Oval 37"/>
          <p:cNvSpPr/>
          <p:nvPr/>
        </p:nvSpPr>
        <p:spPr>
          <a:xfrm>
            <a:off x="9281160" y="138988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137160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음수 글꼴 크기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175564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픽셀 단위 → 배율이 달라도 칸 안에</a:t>
            </a:r>
          </a:p>
        </p:txBody>
      </p:sp>
      <p:sp>
        <p:nvSpPr>
          <p:cNvPr id="41" name="Oval 40"/>
          <p:cNvSpPr/>
          <p:nvPr/>
        </p:nvSpPr>
        <p:spPr>
          <a:xfrm>
            <a:off x="9281160" y="235000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233172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방향 고정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271576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매번 오른쪽을 보고 시작</a:t>
            </a:r>
          </a:p>
        </p:txBody>
      </p:sp>
      <p:sp>
        <p:nvSpPr>
          <p:cNvPr id="44" name="Oval 43"/>
          <p:cNvSpPr/>
          <p:nvPr/>
        </p:nvSpPr>
        <p:spPr>
          <a:xfrm>
            <a:off x="9281160" y="331012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329184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색 채우기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367588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begin_fill ~ end_fill 사이를 색칠</a:t>
            </a:r>
          </a:p>
        </p:txBody>
      </p:sp>
      <p:sp>
        <p:nvSpPr>
          <p:cNvPr id="47" name="Oval 46"/>
          <p:cNvSpPr/>
          <p:nvPr/>
        </p:nvSpPr>
        <p:spPr>
          <a:xfrm>
            <a:off x="9281160" y="427024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6648" y="425196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사각형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6648" y="463600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전진 → 우회전 90° 를 2번 반복</a:t>
            </a:r>
          </a:p>
        </p:txBody>
      </p:sp>
      <p:sp>
        <p:nvSpPr>
          <p:cNvPr id="50" name="Oval 49"/>
          <p:cNvSpPr/>
          <p:nvPr/>
        </p:nvSpPr>
        <p:spPr>
          <a:xfrm>
            <a:off x="9281160" y="5230368"/>
            <a:ext cx="329184" cy="329184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8" y="5212080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맑은 고딕"/>
              </a:rPr>
              <a:t>세로 가운데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48" y="5596128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맑은 고딕"/>
              </a:rPr>
              <a:t>align="center"는 가로만 → y를 10 내림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3D4C"/>
                </a:solidFill>
                <a:latin typeface="맑은 고딕"/>
              </a:rPr>
              <a:t>category_color() — 소견별 글자 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이서준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120640" cy="32918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12064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  <a:latin typeface="Consolas"/>
              </a:rPr>
              <a:t>bmi_table.py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544318"/>
            <a:ext cx="5010912" cy="232410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523362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3" y="3706367"/>
            <a:ext cx="5010912" cy="232410"/>
          </a:xfrm>
          <a:prstGeom prst="rect">
            <a:avLst/>
          </a:prstGeom>
          <a:solidFill>
            <a:srgbClr val="2F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3685413"/>
            <a:ext cx="274320" cy="27432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4708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54 </a:t>
            </a:r>
            <a:r>
              <a:rPr sz="1500">
                <a:solidFill>
                  <a:srgbClr val="C586C0"/>
                </a:solidFill>
                <a:latin typeface="Consolas"/>
              </a:rPr>
              <a:t>def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CDCAA"/>
                </a:solidFill>
                <a:latin typeface="Consolas"/>
              </a:rPr>
              <a:t>category_color</a:t>
            </a:r>
            <a:r>
              <a:rPr sz="1500">
                <a:solidFill>
                  <a:srgbClr val="D4D4D4"/>
                </a:solidFill>
                <a:latin typeface="Consolas"/>
              </a:rPr>
              <a:t>(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)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7949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55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E9178"/>
                </a:solidFill>
                <a:latin typeface="Consolas"/>
              </a:rPr>
              <a:t>"""소견에 따라 글자 색을 정한다."""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1190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56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if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4D4D4"/>
                </a:solidFill>
                <a:latin typeface="Consolas"/>
              </a:rPr>
              <a:t>==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저체중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4431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57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blue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7672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58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elif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4D4D4"/>
                </a:solidFill>
                <a:latin typeface="Consolas"/>
              </a:rPr>
              <a:t>==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정상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0913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59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green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41548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60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elif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9CDCFE"/>
                </a:solidFill>
                <a:latin typeface="Consolas"/>
              </a:rPr>
              <a:t>category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D4D4D4"/>
                </a:solidFill>
                <a:latin typeface="Consolas"/>
              </a:rPr>
              <a:t>==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과체중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73957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61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orange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06367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62 </a:t>
            </a:r>
            <a:r>
              <a:rPr sz="1500">
                <a:solidFill>
                  <a:srgbClr val="D4D4D4"/>
                </a:solidFill>
                <a:latin typeface="Consolas"/>
              </a:rPr>
              <a:t>    </a:t>
            </a:r>
            <a:r>
              <a:rPr sz="1500">
                <a:solidFill>
                  <a:srgbClr val="C586C0"/>
                </a:solidFill>
                <a:latin typeface="Consolas"/>
              </a:rPr>
              <a:t>else</a:t>
            </a:r>
            <a:r>
              <a:rPr sz="1500">
                <a:solidFill>
                  <a:srgbClr val="D4D4D4"/>
                </a:solidFill>
                <a:latin typeface="Consolas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38777"/>
            <a:ext cx="4526280" cy="2324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500">
                <a:solidFill>
                  <a:srgbClr val="6E7681"/>
                </a:solidFill>
                <a:latin typeface="Consolas"/>
              </a:rPr>
              <a:t> 63 </a:t>
            </a:r>
            <a:r>
              <a:rPr sz="1500">
                <a:solidFill>
                  <a:srgbClr val="D4D4D4"/>
                </a:solidFill>
                <a:latin typeface="Consolas"/>
              </a:rPr>
              <a:t>        </a:t>
            </a:r>
            <a:r>
              <a:rPr sz="1500">
                <a:solidFill>
                  <a:srgbClr val="C586C0"/>
                </a:solidFill>
                <a:latin typeface="Consolas"/>
              </a:rPr>
              <a:t>return</a:t>
            </a:r>
            <a:r>
              <a:rPr sz="1500">
                <a:solidFill>
                  <a:srgbClr val="D4D4D4"/>
                </a:solidFill>
                <a:latin typeface="Consolas"/>
              </a:rPr>
              <a:t> 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  <a:r>
              <a:rPr sz="1500">
                <a:solidFill>
                  <a:srgbClr val="CE9178"/>
                </a:solidFill>
                <a:latin typeface="Consolas"/>
              </a:rPr>
              <a:t>red</a:t>
            </a:r>
            <a:r>
              <a:rPr sz="1500">
                <a:solidFill>
                  <a:srgbClr val="CE9178"/>
                </a:solidFill>
                <a:latin typeface="Consolas"/>
              </a:rPr>
              <a:t>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blue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7088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47088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green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45536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5536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orange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3" y="48463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3" y="4892040"/>
            <a:ext cx="1188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3" y="52303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Consolas"/>
              </a:rPr>
              <a:t>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B30"/>
                </a:solidFill>
                <a:latin typeface="맑은 고딕"/>
              </a:rPr>
              <a:t>① 신호등처럼 위험할수록 눈에 띄는 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B30"/>
                </a:solidFill>
                <a:latin typeface="맑은 고딕"/>
              </a:rPr>
              <a:t>② 마지막을 else로 → 어떤 값이 와도 색을 반환 (None 오류 없음)</a:t>
            </a:r>
          </a:p>
        </p:txBody>
      </p:sp>
      <p:pic>
        <p:nvPicPr>
          <p:cNvPr id="35" name="Picture 34" descr="run_window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605272" cy="369373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35040" y="5120640"/>
            <a:ext cx="5605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7명 중 저체중 1 · 정상 4 · 과체중 1 · 비만 1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  <a:endParaRPr sz="2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7863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0f3d4c"/>
                </a:solidFill>
                <a:latin typeface="맑은 고딕"/>
              </a:rPr>
              <a:t>실행 시연</a:t>
            </a:r>
            <a:endParaRPr sz="3000" b="1">
              <a:solidFill>
                <a:srgbClr val="0f3d4c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52560" y="411480"/>
            <a:ext cx="258775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  <a:endParaRPr sz="1600" b="0">
              <a:solidFill>
                <a:srgbClr val="5f6b70"/>
              </a:solidFill>
              <a:latin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4572000" cy="5120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200" b="0">
                <a:solidFill>
                  <a:srgbClr val="cccccc"/>
                </a:solidFill>
                <a:latin typeface="맑은 고딕"/>
              </a:rPr>
              <a:t>터미널</a:t>
            </a:r>
            <a:endParaRPr sz="1200" b="0">
              <a:solidFill>
                <a:srgbClr val="cccccc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400" b="0">
                <a:solidFill>
                  <a:srgbClr val="9fd3dc"/>
                </a:solidFill>
                <a:latin typeface="Consolas"/>
              </a:rPr>
              <a:t>PS hw001&gt; python bmi.py</a:t>
            </a:r>
            <a:endParaRPr sz="1400" b="0">
              <a:solidFill>
                <a:srgbClr val="9fd3dc"/>
              </a:solidFill>
              <a:latin typeface="Consolas"/>
            </a:endParaRPr>
          </a:p>
          <a:p>
            <a:pPr algn="l">
              <a:spcAft>
                <a:spcPts val="2200"/>
              </a:spcAft>
              <a:defRPr/>
            </a:pPr>
            <a:r>
              <a:rPr sz="1400" b="0">
                <a:solidFill>
                  <a:srgbClr val="7ee08a"/>
                </a:solidFill>
                <a:latin typeface="Consolas"/>
              </a:rPr>
              <a:t>test_bmi 통과</a:t>
            </a:r>
            <a:endParaRPr sz="1400" b="0">
              <a:solidFill>
                <a:srgbClr val="7ee08a"/>
              </a:solidFill>
              <a:latin typeface="Consolas"/>
            </a:endParaRPr>
          </a:p>
          <a:p>
            <a:pPr algn="l">
              <a:spcAft>
                <a:spcPts val="400"/>
              </a:spcAft>
              <a:defRPr/>
            </a:pPr>
            <a:r>
              <a:rPr sz="1400" b="0">
                <a:solidFill>
                  <a:srgbClr val="9fd3dc"/>
                </a:solidFill>
                <a:latin typeface="Consolas"/>
              </a:rPr>
              <a:t>PS hw001&gt; python bmi_table.py</a:t>
            </a:r>
            <a:endParaRPr sz="1400" b="0">
              <a:solidFill>
                <a:srgbClr val="9fd3dc"/>
              </a:solidFill>
              <a:latin typeface="Consolas"/>
            </a:endParaRPr>
          </a:p>
          <a:p>
            <a:pPr algn="l">
              <a:spcAft>
                <a:spcPts val="400"/>
              </a:spcAft>
              <a:defRPr/>
            </a:pPr>
            <a:r>
              <a:rPr sz="1400" b="0">
                <a:solidFill>
                  <a:srgbClr val="8a999e"/>
                </a:solidFill>
                <a:latin typeface="Consolas"/>
              </a:rPr>
              <a:t># Turtle 창이 열리고 표가 그려짐</a:t>
            </a:r>
            <a:endParaRPr sz="1400" b="0">
              <a:solidFill>
                <a:srgbClr val="8a999e"/>
              </a:solidFill>
              <a:latin typeface="Consolas"/>
            </a:endParaRPr>
          </a:p>
          <a:p>
            <a:pPr algn="l">
              <a:spcAft>
                <a:spcPts val="600"/>
              </a:spcAft>
              <a:defRPr/>
            </a:pPr>
            <a:r>
              <a:rPr sz="1400" b="0">
                <a:solidFill>
                  <a:srgbClr val="8a999e"/>
                </a:solidFill>
                <a:latin typeface="Consolas"/>
              </a:rPr>
              <a:t># 창을 닫으면 종료</a:t>
            </a:r>
            <a:endParaRPr sz="1400" b="0">
              <a:solidFill>
                <a:srgbClr val="8a999e"/>
              </a:solidFill>
              <a:latin typeface="Consola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47548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테스트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47548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300" b="0">
                <a:solidFill>
                  <a:srgbClr val="c9e4e9"/>
                </a:solidFill>
                <a:latin typeface="맑은 고딕"/>
              </a:rPr>
              <a:t>계산 함수 검증</a:t>
            </a:r>
            <a:endParaRPr sz="1300" b="0">
              <a:solidFill>
                <a:srgbClr val="c9e4e9"/>
              </a:solidFill>
              <a:latin typeface="맑은 고딕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55321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표 출력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0" y="5532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300" b="0">
                <a:solidFill>
                  <a:srgbClr val="c9e4e9"/>
                </a:solidFill>
                <a:latin typeface="맑은 고딕"/>
              </a:rPr>
              <a:t>GUI 결과표</a:t>
            </a:r>
            <a:endParaRPr sz="1300" b="0">
              <a:solidFill>
                <a:srgbClr val="c9e4e9"/>
              </a:solidFill>
              <a:latin typeface="맑은 고딕"/>
            </a:endParaRPr>
          </a:p>
        </p:txBody>
      </p:sp>
      <p:pic>
        <p:nvPicPr>
          <p:cNvPr id="15" name="Picture 14" descr="run_window_c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94960" y="1325880"/>
            <a:ext cx="6245352" cy="4115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배운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큰 문제를 작은 함수로 나누고,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각자 맡은 함수를 합쳐 하나의 프로그램으로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E4E9"/>
                </a:solidFill>
                <a:latin typeface="맑은 고딕"/>
              </a:rPr>
              <a:t>README: 팀 소개 · 문제 · 설계 · 파일 설명 · 실행 방법 · 결과 · 역할 · 소감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636</ep:Words>
  <ep:PresentationFormat>On-screen Show (4:3)</ep:PresentationFormat>
  <ep:Paragraphs>208</ep:Paragraphs>
  <ep:Slides>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chanm</cp:lastModifiedBy>
  <dcterms:modified xsi:type="dcterms:W3CDTF">2026-10-07T04:36:05.367</dcterms:modified>
  <cp:revision>2</cp:revision>
  <cp:version>0906.0100.01</cp:version>
</cp:coreProperties>
</file>