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ThumbnailView">
  <p:normalViewPr>
    <p:restoredLeft sz="15611"/>
    <p:restoredTop sz="94671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F89C1C7-3DCD-1040-A9CF-14679D8B5DDD}" type="datetime1">
              <a:rPr lang="en-US"/>
              <a:pPr lvl="0">
                <a:defRPr/>
              </a:pPr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B5E49A5-4136-284D-997B-48E1D791AD67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[이찬민] 안녕하십니까, 3조 팀장 이찬민입니다. 저희 팀은 이찬민, 이우성, 신재중, 이서준 네 명이고, HW01 BMI 계산 결과표 과제를 발표하겠습니다.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[이찬민] 과제는 health.txt를 읽어 사람마다 BMI를 계산하고 Turtle로 표를 그리는 GUI 프로그램입니다. 먼저 기능을 나눠 계산은 bmi.py, 그리기는 bmi_table.py로 분리했습니다. 계산 부분은 화면 없이 따로 테스트할 수 있습니다. 흐름은 main()이 read_health_file()로 리스트를 받아 draw_table()에 넘기고, draw_table()은 줄마다 draw_row()를, draw_row()는 칸마다 draw_rect()와 write_text()를 부릅니다.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[이찬민] main()은 파일을 읽고, 데이터가 없으면 빈 창을 띄우지 않고 종료합니다. 사람 수에 맞춰 창 높이를 계산하기 때문에 데이터가 늘어나도 표가 잘리지 않습니다. tracer(0)로 애니메이션을 끄고 draw_table()로 그린 뒤 update()로 한 번에 보여줍니다. 역할은 함수 단위로 나눴고, 각자 작성한 코드는 제가 GitHub 저장소에 모아서 관리했습니다. push 전에 pull로 팀원 변경을 먼저 받았습니다. 다음은 BMI 계산과 파일 읽기를 맡은 이우성 학생이 설명하겠습니다.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[이우성] BMI 계산과 파일 읽기를 맡은 이우성입니다. health.txt는 첫 줄이 제목이고 한 줄에 한 사람씩 전화번호, 이름, 키, 몸무게가 있습니다. BMI는 몸무게를 키(미터)의 제곱으로 나눈 값이라 cm를 100으로 나눕니다. 175cm, 72kg이면 약 23.5입니다. bmi_category()는 WHO 기준으로 18.5 미만 저체중, 25 미만 정상, 30 미만 과체중, 그 이상은 비만입니다. read_health_file()은 strip, split, float로 한 사람당 6칸 리스트를 만듭니다. 빈 줄·형식 오류·숫자 오류는 경고 후 건너뛰고, UTF-8 실패 시 CP949로 다시 읽습니다. test_bmi()에서 assert로 확인했습니다. 다음은 신재중 학생입니다.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[신재중] 표 그리기를 맡은 신재중입니다. 표를 칸 하나 → 한 줄 → 표 전체 순서로 나눠 만들었습니다. Turtle 좌표계는 가운데가 (0,0)이고 위쪽이 y가 커서, 아래로 그릴수록 y가 작아집니다. draw_rect()는 왼쪽 위에서 setheading(0)으로 오른쪽을 보게 하고, begin_fill과 end_fill 사이에서 전진·우회전을 두 번 반복합니다. write_text()는 y를 10 내려 세로 가운데를 맞추고, 글꼴 크기를 -16 음수로 써서 픽셀 단위로 고정했습니다. draw_row()는 칸 너비만큼 x를 옮기며 한 줄을 그립니다. 실행 화면은 result.png로 캡처했습니다. 다음은 이서준 학생입니다.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[이서준] 소견 색 함수와 보고서를 맡은 이서준입니다. category_color()는 저체중 파랑, 정상 초록, 과체중 주황, 그 외 비만은 빨강을 돌려줍니다. 신호등처럼 위험할수록 눈에 띄는 색입니다. 마지막을 else로 써서 항상 색 하나를 돌려주므로 None 오류가 나지 않습니다. 실행 결과입니다. 파란 헤더와 흰색·하늘색 줄무늬, 7명 중 신재중 17.1 저체중, 이서준 27.2 과체중, 윤종하 34.6 비만, 나머지 4명 정상입니다. 표 아래에는 WHO 기준을 범례로 적었습니다.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[이찬민] 이어서 실제로 실행해 보겠습니다. 먼저 python bmi.py로 테스트를 실행하면 'test_bmi 통과'가 나옵니다. 다음 python bmi_table.py를 실행하면 Turtle 창이 열리고 7명의 BMI 결과표가 한 번에 그려집니다. 창을 닫으면 종료됩니다.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[이서준] README는 팀 소개, 문제, 설계, 파일 설명, 실행 방법, 실행 결과, 역할 분담, 소감 순서로 정리했습니다. 이번 과제로 큰 문제를 작은 함수로 나누고, 각자 맡은 함수를 합쳐 하나의 프로그램을 만드는 과정을 배울 수 있었습니다. 이상으로 3조 발표를 마치겠습니다. 감사합니다.</a:t>
            </a:r>
            <a:endParaRPr/>
          </a:p>
          <a:p>
            <a:pPr lvl="0">
              <a:defRPr/>
            </a:pPr>
            <a:r>
              <a:rPr/>
              <a:t>[이찬민] 이어서 python bmi.py, python bmi_table.py 시연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8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D3DC"/>
                </a:solidFill>
                <a:latin typeface="맑은 고딕"/>
              </a:rPr>
              <a:t>프로그래밍 HW01 · 3조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</a:rPr>
              <a:t>BMI 계산 결과표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맑은 고딕"/>
              </a:rPr>
              <a:t>health.txt → BMI 계산 → Turtle GUI 표 출력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이찬민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팀장 · 설계 · 표 배치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이우성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BMI 계산 · 파일 읽기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신재중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Turtle 칸 · 줄 그리기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이서준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소견 색 ·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3D4C"/>
                </a:solidFill>
                <a:latin typeface="맑은 고딕"/>
              </a:rPr>
              <a:t>문제와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5877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4937760" cy="12344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과제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0"/>
                </a:solidFill>
                <a:latin typeface="맑은 고딕"/>
              </a:rPr>
              <a:t>health.txt의 전화번호·이름·키·몸무게를 읽어 BMI를 계산하고 Turtle로 표를 그린다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49377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815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bmi.py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4728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계산 담당 — 화면 없이 테스트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49377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bmi_table.py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9884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그리기 담당 — from bmi import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기능별로 파일을 나눠, 계산과 그리기를 따로 고치고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함수 호출 흐름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4206240" cy="621792"/>
          </a:xfrm>
          <a:prstGeom prst="roundRect">
            <a:avLst>
              <a:gd name="adj" fmla="val 8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2651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main()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20240"/>
            <a:ext cx="1645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8EEF2"/>
                </a:solidFill>
                <a:latin typeface="맑은 고딕"/>
              </a:rPr>
              <a:t>프로그램 시작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761488"/>
            <a:ext cx="4206240" cy="621792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761488"/>
            <a:ext cx="2651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read_health_file()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761488"/>
            <a:ext cx="1645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파일 → 리스트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602736"/>
            <a:ext cx="4206240" cy="621792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3602736"/>
            <a:ext cx="2651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draw_table()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602736"/>
            <a:ext cx="1645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표 전체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4443984"/>
            <a:ext cx="4206240" cy="621792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4443984"/>
            <a:ext cx="2651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draw_row()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443984"/>
            <a:ext cx="1645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한 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5285232"/>
            <a:ext cx="4206240" cy="621792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5285232"/>
            <a:ext cx="2651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draw_rect()  write_text()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59" y="5285232"/>
            <a:ext cx="1645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칸 하나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3D4C"/>
                </a:solidFill>
                <a:latin typeface="맑은 고딕"/>
              </a:rPr>
              <a:t>main() 실행 흐름과 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5877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main()이 하는 일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93392"/>
            <a:ext cx="512064" cy="512064"/>
          </a:xfrm>
          <a:prstGeom prst="ellipse">
            <a:avLst/>
          </a:prstGeom>
          <a:solidFill>
            <a:srgbClr val="0F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920240"/>
            <a:ext cx="5120640" cy="658368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20240"/>
            <a:ext cx="1645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3D4C"/>
                </a:solidFill>
                <a:latin typeface="맑은 고딕"/>
              </a:rPr>
              <a:t>파일 읽기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20240"/>
            <a:ext cx="3154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Consolas"/>
              </a:rPr>
              <a:t>read_health_file("health.txt")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16352"/>
            <a:ext cx="512064" cy="512064"/>
          </a:xfrm>
          <a:prstGeom prst="ellipse">
            <a:avLst/>
          </a:prstGeom>
          <a:solidFill>
            <a:srgbClr val="0F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2743200"/>
            <a:ext cx="5120640" cy="658368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743200"/>
            <a:ext cx="1645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3D4C"/>
                </a:solidFill>
                <a:latin typeface="맑은 고딕"/>
              </a:rPr>
              <a:t>데이터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743200"/>
            <a:ext cx="3154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0명이면 메시지 출력 후 종료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39312"/>
            <a:ext cx="512064" cy="512064"/>
          </a:xfrm>
          <a:prstGeom prst="ellipse">
            <a:avLst/>
          </a:prstGeom>
          <a:solidFill>
            <a:srgbClr val="0F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3566160"/>
            <a:ext cx="5120640" cy="658368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566160"/>
            <a:ext cx="1645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3D4C"/>
                </a:solidFill>
                <a:latin typeface="맑은 고딕"/>
              </a:rPr>
              <a:t>창 크기 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566160"/>
            <a:ext cx="3154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사람 수에 맞춰 높이 결정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462272"/>
            <a:ext cx="512064" cy="512064"/>
          </a:xfrm>
          <a:prstGeom prst="ellipse">
            <a:avLst/>
          </a:prstGeom>
          <a:solidFill>
            <a:srgbClr val="0F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389120"/>
            <a:ext cx="5120640" cy="658368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4389120"/>
            <a:ext cx="1645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3D4C"/>
                </a:solidFill>
                <a:latin typeface="맑은 고딕"/>
              </a:rPr>
              <a:t>표 그리기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389120"/>
            <a:ext cx="3154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Consolas"/>
              </a:rPr>
              <a:t>tracer(0) → draw_table()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285232"/>
            <a:ext cx="512064" cy="51206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5212080"/>
            <a:ext cx="5120640" cy="658368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212080"/>
            <a:ext cx="1645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3D4C"/>
                </a:solidFill>
                <a:latin typeface="맑은 고딕"/>
              </a:rPr>
              <a:t>한 번에 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5212080"/>
            <a:ext cx="3154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Consolas"/>
              </a:rPr>
              <a:t>screen.update()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데이터가 3명이든 10명이든 표와 창이 자동으로 맞춰짐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1463040"/>
            <a:ext cx="4690872" cy="4937760"/>
          </a:xfrm>
          <a:prstGeom prst="roundRect">
            <a:avLst>
              <a:gd name="adj" fmla="val 8000"/>
            </a:avLst>
          </a:prstGeom>
          <a:solidFill>
            <a:srgbClr val="0F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16916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FD3DC"/>
                </a:solidFill>
                <a:latin typeface="맑은 고딕"/>
              </a:rPr>
              <a:t>GitHub로 코드 합치기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1031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함수 단위로 역할을 나눠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각자 작성 → 팀장이 저장소에 통합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9480" y="3246120"/>
            <a:ext cx="4050791" cy="54864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24612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git add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3959352"/>
            <a:ext cx="4050791" cy="54864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959352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git commit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4672583"/>
            <a:ext cx="4050791" cy="54864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4672583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git pull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672583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C9E4E9"/>
                </a:solidFill>
                <a:latin typeface="맑은 고딕"/>
              </a:rPr>
              <a:t>팀원 변경 먼저 받기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9480" y="5385816"/>
            <a:ext cx="4050791" cy="54864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5385816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git push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3D4C"/>
                </a:solidFill>
                <a:latin typeface="맑은 고딕"/>
              </a:rPr>
              <a:t>BMI 계산 · 소견 판정 · 파일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5877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이우성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120640" cy="1737360"/>
          </a:xfrm>
          <a:prstGeom prst="roundRect">
            <a:avLst>
              <a:gd name="adj" fmla="val 8000"/>
            </a:avLst>
          </a:prstGeom>
          <a:solidFill>
            <a:srgbClr val="0F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FD3DC"/>
                </a:solidFill>
                <a:latin typeface="맑은 고딕"/>
              </a:rPr>
              <a:t>BMI 공식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몸무게(kg) ÷ 키(m)²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E4E9"/>
                </a:solidFill>
                <a:latin typeface="맑은 고딕"/>
              </a:rPr>
              <a:t>키는 cm → 100으로 나눠 m로   예) 72 ÷ 1.75² ≈ 23.5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소견 (WHO 기준, if/elif 순서대로 검사)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188720" cy="105156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41648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E5BD8"/>
                </a:solidFill>
                <a:latin typeface="맑은 고딕"/>
              </a:rPr>
              <a:t>저체중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&lt; 18.5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56231" y="3931920"/>
            <a:ext cx="1188720" cy="105156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56231" y="4041648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E8B3E"/>
                </a:solidFill>
                <a:latin typeface="맑은 고딕"/>
              </a:rPr>
              <a:t>정상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1" y="4480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&lt; 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63824" y="3931920"/>
            <a:ext cx="1188720" cy="105156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3824" y="4041648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E08A00"/>
                </a:solidFill>
                <a:latin typeface="맑은 고딕"/>
              </a:rPr>
              <a:t>과체중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4480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&lt;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71416" y="3931920"/>
            <a:ext cx="1188720" cy="105156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4041648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02B2B"/>
                </a:solidFill>
                <a:latin typeface="맑은 고딕"/>
              </a:rPr>
              <a:t>비만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4480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30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test_bmi()의 assert로 계산값 · 4가지 소견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read_health_file() — 한 줄이 리스트가 되기까지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874519"/>
            <a:ext cx="5349240" cy="1600200"/>
          </a:xfrm>
          <a:prstGeom prst="roundRect">
            <a:avLst>
              <a:gd name="adj" fmla="val 8000"/>
            </a:avLst>
          </a:prstGeom>
          <a:solidFill>
            <a:srgbClr val="1E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103120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E6EDEF"/>
                </a:solidFill>
                <a:latin typeface="Consolas"/>
              </a:rPr>
              <a:t>"010-1234-5678 이우성 166 58"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6EDEF"/>
                </a:solidFill>
                <a:latin typeface="Consolas"/>
              </a:rPr>
              <a:t>  ↓ strip() · split() · float()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6EDEF"/>
                </a:solidFill>
                <a:latin typeface="Consolas"/>
              </a:rPr>
              <a:t>["010-1234-5678", "이우성",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6EDEF"/>
                </a:solidFill>
                <a:latin typeface="Consolas"/>
              </a:rPr>
              <a:t> 166.0, 58.0, 21.0, "정상"]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033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잘못된 입력은 멈추지 않고 건너뜀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11480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3D4C"/>
                </a:solidFill>
                <a:latin typeface="맑은 고딕"/>
              </a:rPr>
              <a:t>빈 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1148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continue로 조용히 건너뜀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57200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3D4C"/>
                </a:solidFill>
                <a:latin typeface="맑은 고딕"/>
              </a:rPr>
              <a:t>항목 ≠ 4개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5720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"N번째 줄 형식 오류" 경고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02920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3D4C"/>
                </a:solidFill>
                <a:latin typeface="맑은 고딕"/>
              </a:rPr>
              <a:t>숫자 아님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0292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ValueError → "숫자 오류" 경고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48640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3D4C"/>
                </a:solidFill>
                <a:latin typeface="맑은 고딕"/>
              </a:rPr>
              <a:t>인코딩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4864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UTF-8 실패 시 CP949로 다시 읽기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3D4C"/>
                </a:solidFill>
                <a:latin typeface="맑은 고딕"/>
              </a:rPr>
              <a:t>Turtle로 표 그리기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5877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신재중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B30"/>
                </a:solidFill>
                <a:latin typeface="맑은 고딕"/>
              </a:rPr>
              <a:t>큰 표를 작게 나눠서:  칸 하나 → 한 줄 → 표 전체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337560" cy="25146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1284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36414"/>
                </a:solidFill>
                <a:latin typeface="맑은 고딕"/>
              </a:rPr>
              <a:t>칸 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3D4C"/>
                </a:solidFill>
                <a:latin typeface="Consolas"/>
              </a:rPr>
              <a:t>draw_rect()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546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왼쪽 위에서 시작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setheading(0) 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전진·우회전 90° × 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begin_fill로 색칠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50208" y="3154680"/>
            <a:ext cx="365760" cy="320040"/>
          </a:xfrm>
          <a:prstGeom prst="rightArrow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2057400"/>
            <a:ext cx="3337560" cy="25146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21284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36414"/>
                </a:solidFill>
                <a:latin typeface="맑은 고딕"/>
              </a:rPr>
              <a:t>한 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060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3D4C"/>
                </a:solidFill>
                <a:latin typeface="Consolas"/>
              </a:rPr>
              <a:t>draw_row()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546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x를 표 왼쪽 -340에서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칸 너비만큼 오른쪽으로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이동하며 반복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(COL_WIDTHS)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44968" y="3154680"/>
            <a:ext cx="365760" cy="320040"/>
          </a:xfrm>
          <a:prstGeom prst="rightArrow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2057400"/>
            <a:ext cx="3337560" cy="25146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36414"/>
                </a:solidFill>
                <a:latin typeface="맑은 고딕"/>
              </a:rPr>
              <a:t>표 전체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3D4C"/>
                </a:solidFill>
                <a:latin typeface="Consolas"/>
              </a:rPr>
              <a:t>draw_table()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546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헤더 1줄 +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사람 수만큼 draw_row()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아래로 갈수록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y가 작아짐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92040"/>
            <a:ext cx="1109167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write_text()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6811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align="center"는 가로만 가운데 → y를 10 내려 세로도 가운데처럼 보이게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글꼴 크기 -16 (음수 = 픽셀 단위) → 윈도우 배율 125%·150%에서도 칸을 넘치지 않음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3D4C"/>
                </a:solidFill>
                <a:latin typeface="맑은 고딕"/>
              </a:rPr>
              <a:t>소견 색과 실행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5877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이서준</a:t>
            </a:r>
          </a:p>
        </p:txBody>
      </p:sp>
      <p:pic>
        <p:nvPicPr>
          <p:cNvPr id="5" name="Picture 4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675120" cy="4005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4630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category_color()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74519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위험할수록 눈에 띄는 신호등 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377440"/>
            <a:ext cx="3959352" cy="585216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77440"/>
            <a:ext cx="11887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5BD8"/>
                </a:solidFill>
                <a:latin typeface="맑은 고딕"/>
              </a:rPr>
              <a:t>저체중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377440"/>
            <a:ext cx="1645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Consolas"/>
              </a:rPr>
              <a:t>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2377440"/>
            <a:ext cx="868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>
                <a:solidFill>
                  <a:srgbClr val="0F3D4C"/>
                </a:solidFill>
                <a:latin typeface="맑은 고딕"/>
              </a:rPr>
              <a:t>1명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090672"/>
            <a:ext cx="3959352" cy="585216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090672"/>
            <a:ext cx="11887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8B3E"/>
                </a:solidFill>
                <a:latin typeface="맑은 고딕"/>
              </a:rPr>
              <a:t>정상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090672"/>
            <a:ext cx="1645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Consolas"/>
              </a:rPr>
              <a:t>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3090672"/>
            <a:ext cx="868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>
                <a:solidFill>
                  <a:srgbClr val="0F3D4C"/>
                </a:solidFill>
                <a:latin typeface="맑은 고딕"/>
              </a:rPr>
              <a:t>4명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3803904"/>
            <a:ext cx="3959352" cy="585216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3803904"/>
            <a:ext cx="11887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08A00"/>
                </a:solidFill>
                <a:latin typeface="맑은 고딕"/>
              </a:rPr>
              <a:t>과체중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803904"/>
            <a:ext cx="1645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Consolas"/>
              </a:rPr>
              <a:t>orange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3803904"/>
            <a:ext cx="868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>
                <a:solidFill>
                  <a:srgbClr val="0F3D4C"/>
                </a:solidFill>
                <a:latin typeface="맑은 고딕"/>
              </a:rPr>
              <a:t>1명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517136"/>
            <a:ext cx="3959352" cy="585216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4517136"/>
            <a:ext cx="11887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02B2B"/>
                </a:solidFill>
                <a:latin typeface="맑은 고딕"/>
              </a:rPr>
              <a:t>비만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517136"/>
            <a:ext cx="1645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Consolas"/>
              </a:rPr>
              <a:t>else → 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4517136"/>
            <a:ext cx="868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>
                <a:solidFill>
                  <a:srgbClr val="0F3D4C"/>
                </a:solidFill>
                <a:latin typeface="맑은 고딕"/>
              </a:rPr>
              <a:t>1명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303520"/>
            <a:ext cx="3959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마지막을 else로 써서 어떤 값이 와도 항상 색을 반환 (None 오류 없음)</a:t>
            </a: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  <a:endParaRPr sz="2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200" b="1">
                <a:solidFill>
                  <a:srgbClr val="0f3d4c"/>
                </a:solidFill>
                <a:latin typeface="맑은 고딕"/>
              </a:rPr>
              <a:t>실행 시연</a:t>
            </a:r>
            <a:endParaRPr sz="3200" b="1">
              <a:solidFill>
                <a:srgbClr val="0f3d4c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58775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  <a:endParaRPr sz="1600" b="0">
              <a:solidFill>
                <a:srgbClr val="5f6b70"/>
              </a:solidFill>
              <a:latin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4572000" cy="4846320"/>
          </a:xfrm>
          <a:prstGeom prst="roundRect">
            <a:avLst>
              <a:gd name="adj" fmla="val 8000"/>
            </a:avLst>
          </a:prstGeom>
          <a:solidFill>
            <a:srgbClr val="1e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1148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400" b="0">
                <a:solidFill>
                  <a:srgbClr val="9fd3dc"/>
                </a:solidFill>
                <a:latin typeface="Consolas"/>
              </a:rPr>
              <a:t>PS hw001&gt; python bmi.py</a:t>
            </a:r>
            <a:endParaRPr sz="1400" b="0">
              <a:solidFill>
                <a:srgbClr val="9fd3dc"/>
              </a:solidFill>
              <a:latin typeface="Consolas"/>
            </a:endParaRPr>
          </a:p>
          <a:p>
            <a:pPr algn="l">
              <a:spcAft>
                <a:spcPts val="2200"/>
              </a:spcAft>
              <a:defRPr/>
            </a:pPr>
            <a:r>
              <a:rPr sz="1400" b="0">
                <a:solidFill>
                  <a:srgbClr val="7ee08a"/>
                </a:solidFill>
                <a:latin typeface="Consolas"/>
              </a:rPr>
              <a:t>test_bmi 통과</a:t>
            </a:r>
            <a:endParaRPr sz="1400" b="0">
              <a:solidFill>
                <a:srgbClr val="7ee08a"/>
              </a:solidFill>
              <a:latin typeface="Consolas"/>
            </a:endParaRPr>
          </a:p>
          <a:p>
            <a:pPr algn="l">
              <a:spcAft>
                <a:spcPts val="400"/>
              </a:spcAft>
              <a:defRPr/>
            </a:pPr>
            <a:r>
              <a:rPr sz="1400" b="0">
                <a:solidFill>
                  <a:srgbClr val="9fd3dc"/>
                </a:solidFill>
                <a:latin typeface="Consolas"/>
              </a:rPr>
              <a:t>PS hw001&gt; python bmi_table.py</a:t>
            </a:r>
            <a:endParaRPr sz="1400" b="0">
              <a:solidFill>
                <a:srgbClr val="9fd3dc"/>
              </a:solidFill>
              <a:latin typeface="Consolas"/>
            </a:endParaRPr>
          </a:p>
          <a:p>
            <a:pPr algn="l">
              <a:spcAft>
                <a:spcPts val="400"/>
              </a:spcAft>
              <a:defRPr/>
            </a:pPr>
            <a:r>
              <a:rPr sz="1400" b="0">
                <a:solidFill>
                  <a:srgbClr val="8a999e"/>
                </a:solidFill>
                <a:latin typeface="Consolas"/>
              </a:rPr>
              <a:t># Turtle 창이 열리고 표가 그려짐</a:t>
            </a:r>
            <a:endParaRPr sz="1400" b="0">
              <a:solidFill>
                <a:srgbClr val="8a999e"/>
              </a:solidFill>
              <a:latin typeface="Consolas"/>
            </a:endParaRPr>
          </a:p>
          <a:p>
            <a:pPr algn="l">
              <a:spcAft>
                <a:spcPts val="600"/>
              </a:spcAft>
              <a:defRPr/>
            </a:pPr>
            <a:r>
              <a:rPr sz="1400" b="0">
                <a:solidFill>
                  <a:srgbClr val="8a999e"/>
                </a:solidFill>
                <a:latin typeface="Consolas"/>
              </a:rPr>
              <a:t># 창을 닫으면 종료</a:t>
            </a:r>
            <a:endParaRPr sz="1400" b="0">
              <a:solidFill>
                <a:srgbClr val="8a999e"/>
              </a:solidFill>
              <a:latin typeface="Consolas"/>
            </a:endParaRPr>
          </a:p>
        </p:txBody>
      </p:sp>
      <p:sp>
        <p:nvSpPr>
          <p:cNvPr id="7" name="Oval 6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  <a:endParaRPr sz="14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461772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테스트</a:t>
            </a:r>
            <a:endParaRPr sz="16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0" y="46177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300" b="0">
                <a:solidFill>
                  <a:srgbClr val="c9e4e9"/>
                </a:solidFill>
                <a:latin typeface="맑은 고딕"/>
              </a:rPr>
              <a:t>계산 함수 검증</a:t>
            </a:r>
            <a:endParaRPr sz="1300" b="0">
              <a:solidFill>
                <a:srgbClr val="c9e4e9"/>
              </a:solidFill>
              <a:latin typeface="맑은 고딕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22960" y="5394959"/>
            <a:ext cx="457200" cy="45720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  <a:endParaRPr sz="14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3040" y="5394959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표 출력</a:t>
            </a:r>
            <a:endParaRPr sz="16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0" y="5394959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300" b="0">
                <a:solidFill>
                  <a:srgbClr val="c9e4e9"/>
                </a:solidFill>
                <a:latin typeface="맑은 고딕"/>
              </a:rPr>
              <a:t>GUI 결과표</a:t>
            </a:r>
            <a:endParaRPr sz="1300" b="0">
              <a:solidFill>
                <a:srgbClr val="c9e4e9"/>
              </a:solidFill>
              <a:latin typeface="맑은 고딕"/>
            </a:endParaRPr>
          </a:p>
        </p:txBody>
      </p:sp>
      <p:pic>
        <p:nvPicPr>
          <p:cNvPr id="13" name="Picture 12" descr="run_window_c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394960" y="1463040"/>
            <a:ext cx="6245352" cy="4115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D3DC"/>
                </a:solidFill>
                <a:latin typeface="맑은 고딕"/>
              </a:rPr>
              <a:t>배운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큰 문제를 작은 함수로 나누고,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각자 맡은 함수를 합쳐 하나의 프로그램으로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E4E9"/>
                </a:solidFill>
                <a:latin typeface="맑은 고딕"/>
              </a:rPr>
              <a:t>README: 팀 소개 · 문제 · 설계 · 파일 설명 · 실행 방법 · 결과 · 역할 · 소감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445</ep:Words>
  <ep:PresentationFormat>On-screen Show (4:3)</ep:PresentationFormat>
  <ep:Paragraphs>152</ep:Paragraphs>
  <ep:Slides>8</ep:Slides>
  <ep:Notes>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chanm</cp:lastModifiedBy>
  <dcterms:modified xsi:type="dcterms:W3CDTF">2026-10-07T04:15:15.030</dcterms:modified>
  <cp:revision>2</cp:revision>
  <cp:version>0906.0100.01</cp:version>
</cp:coreProperties>
</file>